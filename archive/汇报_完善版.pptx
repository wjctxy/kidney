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8" r:id="rId4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dirty="0"/>
              <a:t>软件可视化</a:t>
            </a:r>
            <a:endParaRPr lang="zh-CN" alt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65" y="825500"/>
            <a:ext cx="10210800" cy="550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01｜时域带通滤波器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658368" cy="292608"/>
          </a:xfrm>
          <a:prstGeom prst="rect">
            <a:avLst/>
          </a:prstGeom>
          <a:solidFill>
            <a:srgbClr val="283B5B"/>
          </a:solidFill>
          <a:ln>
            <a:solidFill>
              <a:srgbClr val="283B5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概念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81328" y="1078992"/>
            <a:ext cx="49377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对每个空间位置 (x,y) 的时间序列 I(x,y,t) 做带通滤波。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目标：去掉慢变化背景和高频随机噪声，保留微泡通过时产生的动态变化。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58368" cy="292608"/>
          </a:xfrm>
          <a:prstGeom prst="rect">
            <a:avLst/>
          </a:prstGeom>
          <a:solidFill>
            <a:srgbClr val="B7D8D6"/>
          </a:solidFill>
          <a:ln>
            <a:solidFill>
              <a:srgbClr val="B7D8D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适用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81328" y="2514600"/>
            <a:ext cx="4937760" cy="960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B2430"/>
                </a:solidFill>
              </a:rPr>
              <a:t>人体样本中可作为基础滤波方法</a:t>
            </a:r>
            <a:endParaRPr lang="en-US" sz="1200" dirty="0"/>
          </a:p>
          <a:p>
            <a:r>
              <a:rPr lang="en-US" sz="1200" dirty="0">
                <a:solidFill>
                  <a:srgbClr val="1B2430"/>
                </a:solidFill>
              </a:rPr>
              <a:t>已知帧率 fps 时，可根据微泡运动频段设置 lowcut/highcut</a:t>
            </a:r>
            <a:endParaRPr lang="en-US" sz="1200" dirty="0"/>
          </a:p>
          <a:p>
            <a:r>
              <a:rPr lang="en-US" sz="1200" dirty="0">
                <a:solidFill>
                  <a:srgbClr val="1B2430"/>
                </a:solidFill>
              </a:rPr>
              <a:t>常与 SVD 串联作为二次滤波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10789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B5B"/>
                </a:solidFill>
              </a:rPr>
              <a:t>Python实现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444752"/>
            <a:ext cx="4800600" cy="1261872"/>
          </a:xfrm>
          <a:prstGeom prst="rect">
            <a:avLst/>
          </a:prstGeom>
          <a:solidFill>
            <a:srgbClr val="F1F5F7"/>
          </a:solidFill>
          <a:ln w="7620">
            <a:solidFill>
              <a:srgbClr val="D5E2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scipy.signal import butter, filtfilt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temporal_bandpass(frames, fs, lowcut, highcut):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b, a = butter(3, [lowcut/(fs/2), highcut/(fs/2)], btype='band')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filtfilt(b, a, frames, axis=0)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29400" y="3127248"/>
            <a:ext cx="48006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参数提示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• fs：DICOM metadata 或设备记录中的帧率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• lowcut：去除组织/呼吸等慢变化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• highcut：去除随机噪声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• axis=0：沿时间帧维度滤波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481328" y="4069080"/>
            <a:ext cx="4937760" cy="594360"/>
          </a:xfrm>
          <a:prstGeom prst="rect">
            <a:avLst/>
          </a:prstGeom>
          <a:solidFill>
            <a:srgbClr val="EEF7F6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430"/>
                </a:solidFill>
              </a:rPr>
              <a:t>展示建议：用一张“单像素时间曲线”说明滤波前后变化，比单纯放代码更容易理解。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01｜时空奇异值分解滤波器（SVD Filter）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2057400" cy="566928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核心变换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170432"/>
            <a:ext cx="46634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</a:rPr>
              <a:t>frames [T,H,W]  →  M [H×W,T]  →  M = UΣVᵀ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0" y="1170432"/>
            <a:ext cx="2560320" cy="566928"/>
          </a:xfrm>
          <a:prstGeom prst="rect">
            <a:avLst/>
          </a:prstGeom>
          <a:solidFill>
            <a:srgbClr val="B7D8D6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</a:rPr>
              <a:t>信号分布解释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468880" cy="822960"/>
          </a:xfrm>
          <a:prstGeom prst="rect">
            <a:avLst/>
          </a:prstGeom>
          <a:solidFill>
            <a:srgbClr val="FFF7EA"/>
          </a:solidFill>
          <a:ln w="10160">
            <a:solidFill>
              <a:srgbClr val="F1D29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大奇异值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组织杂波 / 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2468880" cy="822960"/>
          </a:xfrm>
          <a:prstGeom prst="rect">
            <a:avLst/>
          </a:prstGeom>
          <a:solidFill>
            <a:srgbClr val="EEF7F6"/>
          </a:solidFill>
          <a:ln w="10160">
            <a:solidFill>
              <a:srgbClr val="B8D8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中间奇异值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微泡运动信号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2240280"/>
            <a:ext cx="2468880" cy="822960"/>
          </a:xfrm>
          <a:prstGeom prst="rect">
            <a:avLst/>
          </a:prstGeom>
          <a:solidFill>
            <a:srgbClr val="F4F1FA"/>
          </a:solidFill>
          <a:ln w="10160">
            <a:solidFill>
              <a:srgbClr val="D4C9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小奇异值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随机噪声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93008" y="2651760"/>
            <a:ext cx="1353312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2651760"/>
            <a:ext cx="1371600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B5B"/>
                </a:solidFill>
              </a:rPr>
              <a:t>实现方式：导入包 + 自定义重建逻辑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096512"/>
            <a:ext cx="4983480" cy="1124712"/>
          </a:xfrm>
          <a:prstGeom prst="rect">
            <a:avLst/>
          </a:prstGeom>
          <a:solidFill>
            <a:srgbClr val="F1F5F7"/>
          </a:solidFill>
          <a:ln w="7620">
            <a:solidFill>
              <a:srgbClr val="D5E2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scipy.linalg import svd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大数据可用 randomized_svd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U, S, Vt = svd(M, full_matrices=False)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S_keep = mask(S, low_rank_cut, high_rank_cut)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M_filtered = (U * S_keep) @ Vt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低阈值 SVD 与高/低速微泡数据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658368" cy="292608"/>
          </a:xfrm>
          <a:prstGeom prst="rect">
            <a:avLst/>
          </a:prstGeom>
          <a:solidFill>
            <a:srgbClr val="283B5B"/>
          </a:solidFill>
          <a:ln>
            <a:solidFill>
              <a:srgbClr val="283B5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低阈值SVD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572768" y="1097280"/>
            <a:ext cx="4754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只去掉少量最大奇异值，尽量保留低速微泡。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原因：低速微泡移动慢，时空相关性较高，容易被误认为组织背景。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72768" y="2423160"/>
            <a:ext cx="4754880" cy="1170432"/>
          </a:xfrm>
          <a:prstGeom prst="rect">
            <a:avLst/>
          </a:prstGeom>
          <a:solidFill>
            <a:srgbClr val="F1F5F7"/>
          </a:solidFill>
          <a:ln w="7620">
            <a:solidFill>
              <a:srgbClr val="D5E2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普通 SVD：去组织更强，但可能删掉低速微泡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filtered, S = svd_filter(frames, low_rank_cut=10, high_rank_cut=80)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低阈值 SVD：保留更多低速微泡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filtered_low, S = svd_filter(frames, low_rank_cut=2, high_rank_cut=80)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29400" y="1234440"/>
            <a:ext cx="658368" cy="292608"/>
          </a:xfrm>
          <a:prstGeom prst="rect">
            <a:avLst/>
          </a:prstGeom>
          <a:solidFill>
            <a:srgbClr val="B7D8D6"/>
          </a:solidFill>
          <a:ln>
            <a:solidFill>
              <a:srgbClr val="B7D8D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速度划分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16368" y="1097280"/>
            <a:ext cx="3840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高/低速微泡数据通常来自轨迹速度，而不是单帧强度。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速度 = 位移 × 像素尺寸 × 帧率。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16368" y="2423160"/>
            <a:ext cx="38404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高速微泡：主干血管、快速灌注区域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低速微泡：微小血管、毛细血管、滞留区域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02｜二维高斯滤波器：让微泡亮斑更稳定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" y="1188720"/>
            <a:ext cx="2011680" cy="502920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作用机制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4680" y="1188720"/>
            <a:ext cx="7360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</a:rPr>
              <a:t>单帧图像  →  高斯平滑  →  局部亮斑更连续  →  更容易找峰值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92040" cy="1417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B2430"/>
                </a:solidFill>
              </a:rPr>
              <a:t>抑制孤立噪声点，降低误检</a:t>
            </a:r>
            <a:endParaRPr lang="en-US" sz="1300" dirty="0"/>
          </a:p>
          <a:p>
            <a:r>
              <a:rPr lang="en-US" sz="1300" dirty="0">
                <a:solidFill>
                  <a:srgbClr val="1B2430"/>
                </a:solidFill>
              </a:rPr>
              <a:t>保持微泡近似 blob 结构</a:t>
            </a:r>
            <a:endParaRPr lang="en-US" sz="1300" dirty="0"/>
          </a:p>
          <a:p>
            <a:r>
              <a:rPr lang="en-US" sz="1300" dirty="0">
                <a:solidFill>
                  <a:srgbClr val="1B2430"/>
                </a:solidFill>
              </a:rPr>
              <a:t>为 peak_local_max 或阈值检测提供稳定输入</a:t>
            </a:r>
            <a:endParaRPr lang="en-US" sz="1300" dirty="0"/>
          </a:p>
          <a:p>
            <a:r>
              <a:rPr lang="en-US" sz="1300" dirty="0">
                <a:solidFill>
                  <a:srgbClr val="1B2430"/>
                </a:solidFill>
              </a:rPr>
              <a:t>sigma 不宜过大，否则相邻微泡会融合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21762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B5B"/>
                </a:solidFill>
              </a:rPr>
              <a:t>常用包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542032"/>
            <a:ext cx="4297680" cy="804672"/>
          </a:xfrm>
          <a:prstGeom prst="rect">
            <a:avLst/>
          </a:prstGeom>
          <a:solidFill>
            <a:srgbClr val="F1F5F7"/>
          </a:solidFill>
          <a:ln w="7620">
            <a:solidFill>
              <a:srgbClr val="D5E2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scipy.ndimage import gaussian_filter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或 OpenCV: cv2.GaussianBlur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smooth = gaussian_filter(frame, sigma=1.0)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4297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参数建议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• sigma：0.8–2.0 作为起点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• 微泡小且密集：sigma 小一些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• 噪声强：sigma 可适当增大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02｜径向对称法：从亮斑到亚像素中心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965960" cy="502920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基本思想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78638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430"/>
                </a:solidFill>
              </a:rPr>
              <a:t>微泡亮斑周围的灰度梯度大致指向中心；把多条梯度方向线求交点，就能估计亚像素中心。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8346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常规极值定位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28346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B2430"/>
                </a:solidFill>
              </a:rPr>
              <a:t>取最亮像素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B2430"/>
                </a:solidFill>
              </a:rPr>
              <a:t>简单、快，但只有像素级精度，容易受噪声影响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4663440" y="2240280"/>
            <a:ext cx="2834640" cy="1051560"/>
          </a:xfrm>
          <a:prstGeom prst="rect">
            <a:avLst/>
          </a:prstGeom>
          <a:solidFill>
            <a:srgbClr val="EEF7F6"/>
          </a:solidFill>
          <a:ln w="10160">
            <a:solidFill>
              <a:srgbClr val="B8D8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径向对称定位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547872"/>
            <a:ext cx="2834640" cy="1051560"/>
          </a:xfrm>
          <a:prstGeom prst="rect">
            <a:avLst/>
          </a:prstGeom>
          <a:solidFill>
            <a:srgbClr val="EEF7F6"/>
          </a:solidFill>
          <a:ln w="10160">
            <a:solidFill>
              <a:srgbClr val="B8D8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B2430"/>
                </a:solidFill>
              </a:rPr>
              <a:t>利用梯度方向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B2430"/>
                </a:solidFill>
              </a:rPr>
              <a:t>可达到亚像素级，适合超分辨血管重建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8412480" y="2240280"/>
            <a:ext cx="2377440" cy="530352"/>
          </a:xfrm>
          <a:prstGeom prst="rect">
            <a:avLst/>
          </a:prstGeom>
          <a:solidFill>
            <a:srgbClr val="B7D8D6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实现方式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3044952"/>
            <a:ext cx="23774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通常需要自定义函数：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1. 裁剪候选点 patch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2. 计算梯度 gx, gy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3. 构造加权最小二乘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B2430"/>
                </a:solidFill>
              </a:rPr>
              <a:t>4. 返回全局中心坐标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03｜匈牙利算法：相邻帧微泡最优匹配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658368" cy="292608"/>
          </a:xfrm>
          <a:prstGeom prst="rect">
            <a:avLst/>
          </a:prstGeom>
          <a:solidFill>
            <a:srgbClr val="283B5B"/>
          </a:solidFill>
          <a:ln>
            <a:solidFill>
              <a:srgbClr val="283B5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问题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508760" y="1024128"/>
            <a:ext cx="52120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第 t 帧有 M 个微泡，第 t+1 帧有 N 个微泡。需要判断哪个点对应哪个点。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658368" cy="292608"/>
          </a:xfrm>
          <a:prstGeom prst="rect">
            <a:avLst/>
          </a:prstGeom>
          <a:solidFill>
            <a:srgbClr val="B7D8D6"/>
          </a:solidFill>
          <a:ln>
            <a:solidFill>
              <a:srgbClr val="B7D8D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代价矩阵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52120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cost[i,j] = 第 t 帧第 i 个点 与 第 t+1 帧第 j 个点的距离；匈牙利算法寻找总代价最小的匹配。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0" y="10789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B5B"/>
                </a:solidFill>
              </a:rPr>
              <a:t>常用包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444752"/>
            <a:ext cx="4343400" cy="987552"/>
          </a:xfrm>
          <a:prstGeom prst="rect">
            <a:avLst/>
          </a:prstGeom>
          <a:solidFill>
            <a:srgbClr val="F1F5F7"/>
          </a:solidFill>
          <a:ln w="7620">
            <a:solidFill>
              <a:srgbClr val="D5E2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scipy.optimize import linear_sum_assignment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scipy.spatial.distance import cdist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cost = cdist(points_t, points_t1)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430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row, col = linear_sum_assignment(cost)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0" y="2834640"/>
            <a:ext cx="4343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追踪约束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42048" y="3401568"/>
            <a:ext cx="3977640" cy="960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B2430"/>
                </a:solidFill>
              </a:rPr>
              <a:t>最大允许位移 max_distance</a:t>
            </a:r>
            <a:endParaRPr lang="en-US" sz="1220" dirty="0"/>
          </a:p>
          <a:p>
            <a:r>
              <a:rPr lang="en-US" sz="1220" dirty="0">
                <a:solidFill>
                  <a:srgbClr val="1B2430"/>
                </a:solidFill>
              </a:rPr>
              <a:t>最小轨迹长度 min_track_length</a:t>
            </a:r>
            <a:endParaRPr lang="en-US" sz="1220" dirty="0"/>
          </a:p>
          <a:p>
            <a:r>
              <a:rPr lang="en-US" sz="1220" dirty="0">
                <a:solidFill>
                  <a:srgbClr val="1B2430"/>
                </a:solidFill>
              </a:rPr>
              <a:t>速度/方向连续性约束</a:t>
            </a:r>
            <a:endParaRPr lang="en-US" sz="1220" dirty="0"/>
          </a:p>
          <a:p>
            <a:r>
              <a:rPr lang="en-US" sz="1220" dirty="0">
                <a:solidFill>
                  <a:srgbClr val="1B2430"/>
                </a:solidFill>
              </a:rPr>
              <a:t>允许短时丢失或直接终止轨迹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508760" y="3977640"/>
            <a:ext cx="5212080" cy="713232"/>
          </a:xfrm>
          <a:prstGeom prst="rect">
            <a:avLst/>
          </a:prstGeom>
          <a:solidFill>
            <a:srgbClr val="EEF7F6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汇报提醒：匈牙利算法只解决“当前两帧最优匹配”，完整轨迹管理还需要自定义 track_bubbles 逻辑。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04｜合成高/低速血流密度图与参数计算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" y="1124712"/>
            <a:ext cx="4937760" cy="530352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轨迹 → 速度 → 分组 → 累计成图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93776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430"/>
                </a:solidFill>
              </a:rPr>
              <a:t>速度阈值可将轨迹分成高速与低速两类；将轨迹点累计到图像网格中，得到血流密度图。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999232"/>
            <a:ext cx="2240280" cy="777240"/>
          </a:xfrm>
          <a:prstGeom prst="rect">
            <a:avLst/>
          </a:prstGeom>
          <a:solidFill>
            <a:srgbClr val="EAF6EE"/>
          </a:solidFill>
          <a:ln w="10160">
            <a:solidFill>
              <a:srgbClr val="B3DDC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935C"/>
                </a:solidFill>
              </a:rPr>
              <a:t>高速轨迹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22402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主干血管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快速灌注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38728" y="2999232"/>
            <a:ext cx="2240280" cy="777240"/>
          </a:xfrm>
          <a:prstGeom prst="rect">
            <a:avLst/>
          </a:prstGeom>
          <a:solidFill>
            <a:srgbClr val="F4F1FA"/>
          </a:solidFill>
          <a:ln w="10160">
            <a:solidFill>
              <a:srgbClr val="D9C7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4CD4"/>
                </a:solidFill>
              </a:rPr>
              <a:t>低速轨迹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38728" y="3977640"/>
            <a:ext cx="22402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毛细血管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局部滞留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124712"/>
            <a:ext cx="4389120" cy="530352"/>
          </a:xfrm>
          <a:prstGeom prst="rect">
            <a:avLst/>
          </a:prstGeom>
          <a:solidFill>
            <a:srgbClr val="B7D8D6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</a:rPr>
              <a:t>参数计算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1828800"/>
            <a:ext cx="4114800" cy="12984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1B2430"/>
                </a:solidFill>
              </a:rPr>
              <a:t>归一化距离：轨迹总长度 / 首尾直线距离，反映弯曲程度</a:t>
            </a:r>
            <a:endParaRPr lang="en-US" sz="1280" dirty="0"/>
          </a:p>
          <a:p>
            <a:r>
              <a:rPr lang="en-US" sz="1280" dirty="0">
                <a:solidFill>
                  <a:srgbClr val="1B2430"/>
                </a:solidFill>
              </a:rPr>
              <a:t>滞留时长：微泡在指定圆形区域内被追踪到的时间</a:t>
            </a:r>
            <a:endParaRPr lang="en-US" sz="1280" dirty="0"/>
          </a:p>
          <a:p>
            <a:r>
              <a:rPr lang="en-US" sz="1280" dirty="0">
                <a:solidFill>
                  <a:srgbClr val="1B2430"/>
                </a:solidFill>
              </a:rPr>
              <a:t>离散度：统计方向偏差 ±20° 内的同向运动次数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92240" y="3886200"/>
            <a:ext cx="4389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B2430"/>
                </a:solidFill>
              </a:rPr>
              <a:t>展示建议：用颜色区分高速/低速轨迹，并在图旁边给出参数定义，形成“结果图 + 指标解释”的组合。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实现清单：哪些用包，哪些需要自定义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2286000" cy="384048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技术点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143000"/>
            <a:ext cx="3794760" cy="384048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推荐包 / 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143000"/>
            <a:ext cx="4160520" cy="384048"/>
          </a:xfrm>
          <a:prstGeom prst="rect">
            <a:avLst/>
          </a:prstGeom>
          <a:solidFill>
            <a:srgbClr val="283B5B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实现性质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22860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时域带通滤波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1618488"/>
            <a:ext cx="379476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scipy.signal.butter / filtfilt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1618488"/>
            <a:ext cx="41605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导入包 + 封装函数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039112"/>
            <a:ext cx="228600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SVD滤波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039112"/>
            <a:ext cx="379476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scipy.linalg.svd / randomized_svd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039112"/>
            <a:ext cx="416052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导入包 + 自定义阈值重建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459736"/>
            <a:ext cx="22860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低阈值SVD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3240" y="2459736"/>
            <a:ext cx="379476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无独立包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2459736"/>
            <a:ext cx="41605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调整 low_rank_cut 参数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880360"/>
            <a:ext cx="228600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二维高斯滤波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2880360"/>
            <a:ext cx="379476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scipy.ndimage.gaussian_filter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2880360"/>
            <a:ext cx="416052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直接导入使用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300984"/>
            <a:ext cx="22860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局部峰值检测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3240" y="3300984"/>
            <a:ext cx="379476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skimage.feature.peak_local_max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3300984"/>
            <a:ext cx="41605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导入包 + 阈值调参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228600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径向对称法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3240" y="3721608"/>
            <a:ext cx="379476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通常无标准现成包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0" y="3721608"/>
            <a:ext cx="416052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自定义梯度/最小二乘函数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42232"/>
            <a:ext cx="22860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匈牙利算法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3240" y="4142232"/>
            <a:ext cx="379476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scipy.optimize.linear_sum_assignment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49440" y="4142232"/>
            <a:ext cx="41605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导入包 + 自定义轨迹管理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4562856"/>
            <a:ext cx="228600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高/低速划分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63240" y="4562856"/>
            <a:ext cx="379476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</a:rPr>
              <a:t>无独立包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4562856"/>
            <a:ext cx="4160520" cy="365760"/>
          </a:xfrm>
          <a:prstGeom prst="rect">
            <a:avLst/>
          </a:prstGeom>
          <a:solidFill>
            <a:srgbClr val="F1F7F6"/>
          </a:solidFill>
          <a:ln w="10160">
            <a:solidFill>
              <a:srgbClr val="D7E3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</a:rPr>
              <a:t>根据轨迹速度自定义筛选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5840" y="5074920"/>
            <a:ext cx="9966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</a:rPr>
              <a:t>建议安装：numpy / scipy / scikit-image / scikit-learn / pydicom / matplotlib / opencv-python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演示</Application>
  <PresentationFormat>On-screen Show (16:9)</PresentationFormat>
  <Paragraphs>251</Paragraphs>
  <Slides>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BJUT Model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超声微泡成像技术点展示-完善版</dc:title>
  <dc:creator>OpenAI</dc:creator>
  <dc:subject>超声微泡成像技术点展示</dc:subject>
  <cp:lastModifiedBy>！？</cp:lastModifiedBy>
  <cp:revision>2</cp:revision>
  <dcterms:created xsi:type="dcterms:W3CDTF">2026-05-30T15:46:00Z</dcterms:created>
  <dcterms:modified xsi:type="dcterms:W3CDTF">2026-05-30T15:51:29Z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62A7C8C781FA4B7492CE3B3484072728_12</vt:lpwstr>
  </property>
</Properties>
</file>