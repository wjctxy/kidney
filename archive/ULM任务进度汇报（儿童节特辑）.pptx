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72" r:id="rId5"/>
    <p:sldId id="273" r:id="rId6"/>
    <p:sldId id="274" r:id="rId7"/>
    <p:sldId id="275" r:id="rId8"/>
    <p:sldId id="276" r:id="rId9"/>
    <p:sldId id="278" r:id="rId10"/>
    <p:sldId id="280" r:id="rId11"/>
    <p:sldId id="281" r:id="rId12"/>
    <p:sldId id="282" r:id="rId13"/>
    <p:sldId id="283" r:id="rId14"/>
    <p:sldId id="284" r:id="rId15"/>
    <p:sldId id="285" r:id="rId16"/>
    <p:sldId id="287" r:id="rId17"/>
    <p:sldId id="288" r:id="rId18"/>
    <p:sldId id="289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86384"/>
            <a:ext cx="658368" cy="0"/>
          </a:xfrm>
          <a:prstGeom prst="line">
            <a:avLst/>
          </a:prstGeom>
          <a:noFill/>
          <a:ln w="16510">
            <a:solidFill>
              <a:srgbClr val="244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44200" y="6473952"/>
            <a:ext cx="10972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294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BJUT Model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294A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0980" y="5296958"/>
            <a:ext cx="1777907" cy="304271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03364" y="5296958"/>
            <a:ext cx="2412874" cy="30427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60716" y="5296958"/>
            <a:ext cx="1777907" cy="304271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dirty="0"/>
              <a:t>软件可视化</a:t>
            </a:r>
            <a:endParaRPr lang="zh-CN" alt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68096"/>
            <a:ext cx="566928" cy="0"/>
          </a:xfrm>
          <a:prstGeom prst="line">
            <a:avLst/>
          </a:prstGeom>
          <a:noFill/>
          <a:ln w="15240">
            <a:solidFill>
              <a:srgbClr val="3B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8440" y="6455664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16F"/>
                </a:solidFill>
              </a:rPr>
              <a:t>BJUT Model</a:t>
            </a:r>
            <a:endParaRPr lang="en-US" sz="85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65" y="825500"/>
            <a:ext cx="10210800" cy="550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01｜时域带通滤波器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08887" y="694944"/>
            <a:ext cx="10241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从每个像素的时间曲线中提取目标频段动态；主数据保留 signed float32，未做 abs / normalization。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2176272" cy="603504"/>
          </a:xfrm>
          <a:prstGeom prst="chevron">
            <a:avLst/>
          </a:prstGeom>
          <a:solidFill>
            <a:srgbClr val="EAF4F3"/>
          </a:solidFill>
          <a:ln w="12700">
            <a:solidFill>
              <a:srgbClr val="C7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5214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36245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frames.npy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[T,H,W]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078992"/>
            <a:ext cx="2176272" cy="603504"/>
          </a:xfrm>
          <a:prstGeom prst="chevron">
            <a:avLst/>
          </a:prstGeom>
          <a:solidFill>
            <a:srgbClr val="F7F1E3"/>
          </a:solidFill>
          <a:ln w="12700">
            <a:solidFill>
              <a:srgbClr val="E6D7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15214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时间轴滤波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136245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I(x,y,t)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axis=0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078992"/>
            <a:ext cx="2176272" cy="603504"/>
          </a:xfrm>
          <a:prstGeom prst="chevron">
            <a:avLst/>
          </a:prstGeom>
          <a:solidFill>
            <a:srgbClr val="EEF2FA"/>
          </a:solidFill>
          <a:ln w="12700">
            <a:solidFill>
              <a:srgbClr val="C9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15214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Butterworth SOS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0" y="136245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0.5–8.5 Hz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sosfiltfilt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078992"/>
            <a:ext cx="2176272" cy="603504"/>
          </a:xfrm>
          <a:prstGeom prst="chevron">
            <a:avLst/>
          </a:prstGeom>
          <a:solidFill>
            <a:srgbClr val="E9F4EA"/>
          </a:solidFill>
          <a:ln w="12700">
            <a:solidFill>
              <a:srgbClr val="BBD8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15214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0" y="136245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human_filtered.npy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signed float32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" y="2048256"/>
            <a:ext cx="77724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103120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1965960"/>
            <a:ext cx="4645152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2130552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处理对象不是单张图，而是每个空间位置的时间序列：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755648" y="254203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48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I(x,y,1), I(x,y,2), …, I(x,y,T)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00784" y="2971800"/>
            <a:ext cx="4160520" cy="7132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 lnSpcReduction="2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低于 lowcut 的慢变化：组织漂移、呼吸、探头慢变化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高于 highcut 的快速成分：随机噪声、尖锐抖动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保留0.5~8.5</a:t>
            </a:r>
            <a:r>
              <a:rPr lang="en-US" sz="127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Hz频段：微泡通过造成的动态变化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6400800" y="2048256"/>
            <a:ext cx="77724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103120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函数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170992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核心实现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69480" y="1965960"/>
            <a:ext cx="4297680" cy="1554480"/>
          </a:xfrm>
          <a:prstGeom prst="roundRect">
            <a:avLst>
              <a:gd name="adj" fmla="val 2353"/>
            </a:avLst>
          </a:prstGeom>
          <a:solidFill>
            <a:srgbClr val="EEF4F6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9208" y="2048256"/>
            <a:ext cx="4078224" cy="1389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23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temporal_bandpass(frames, fps, lowcut, highcut, order=3):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23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nyquist = fps * 0.5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23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low, high = lowcut / nyquist, highcut / nyquist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23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sos = butter(order, [low, high], btype="band", output="sos")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723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sosfiltfilt(sos, frames, axis=0).astype(np.float32)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269480" y="3639312"/>
            <a:ext cx="42976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3776472"/>
            <a:ext cx="39867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参数保护：fps &gt; 0，0 &lt; lowcut &lt; highcut &lt; Nyquist；帧数过少时使用 FFT fallback。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85216" y="4370832"/>
            <a:ext cx="96012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425696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27632" y="4297680"/>
            <a:ext cx="9921240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4498848"/>
            <a:ext cx="9464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numpy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：数组与统计；</a:t>
            </a: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scipy.signal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：butter / sosfiltfilt；</a:t>
            </a: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open_memmap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：分块写入，避免一次性占满内存；
</a:t>
            </a: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matplotlib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：raw-scale PNG + colorbar；</a:t>
            </a: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：bandpass_stats.json；</a:t>
            </a:r>
            <a:r>
              <a:rPr lang="en-US" sz="131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pathlib</a:t>
            </a:r>
            <a:r>
              <a:rPr lang="en-US" sz="131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：路径管理。</a:t>
            </a:r>
            <a:endParaRPr lang="en-US" sz="1310" dirty="0"/>
          </a:p>
        </p:txBody>
      </p:sp>
      <p:sp>
        <p:nvSpPr>
          <p:cNvPr id="33" name="Shape 31"/>
          <p:cNvSpPr/>
          <p:nvPr/>
        </p:nvSpPr>
        <p:spPr>
          <a:xfrm>
            <a:off x="1783080" y="5102352"/>
            <a:ext cx="9464040" cy="0"/>
          </a:xfrm>
          <a:prstGeom prst="line">
            <a:avLst/>
          </a:prstGeom>
          <a:noFill/>
          <a:ln w="12700">
            <a:solidFill>
              <a:srgbClr val="C7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5276088"/>
            <a:ext cx="9464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可视化逻辑更新：PNG 直接显示 signed 数据，不做 abs、不做百分位归一化；使用 colorbar 说明真实数值范围。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585216" y="5943600"/>
            <a:ext cx="10954512" cy="365760"/>
          </a:xfrm>
          <a:prstGeom prst="rect">
            <a:avLst/>
          </a:prstGeom>
          <a:solidFill>
            <a:srgbClr val="EAF4F3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6044184"/>
            <a:ext cx="1046073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01 输出：human_filtered.npy 仍为 signed float32。红/蓝预览图只是帮助读正负波动，不改变主数据。</a:t>
            </a:r>
            <a:endParaRPr lang="en-US" sz="114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294A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01｜signed bandpass 图像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167" y="859409"/>
            <a:ext cx="10241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图像只说明时间动态被提取；它不是最终微泡定位结果，下一步需要空间平滑。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662940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C7D8D8"/>
            </a:solidFill>
            <a:prstDash val="solid"/>
          </a:ln>
        </p:spPr>
      </p:sp>
      <p:pic>
        <p:nvPicPr>
          <p:cNvPr id="5" name="Image 0" descr="/mnt/data/52809211-db9d-46f5-8b1c-d22a1c9b9b7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94257"/>
            <a:ext cx="6428232" cy="26784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29768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452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 frame 300  vs.  Signed bandpass frame 300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7360920" y="1078992"/>
            <a:ext cx="68580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13385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74736" y="1005840"/>
            <a:ext cx="349300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9328" y="1170432"/>
            <a:ext cx="3154680" cy="75895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8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</a:t>
            </a: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：原始灰度强度；右侧 colorbar 是真实显示范围。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80" b="1" dirty="0">
                <a:solidFill>
                  <a:srgbClr val="D93A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右图</a:t>
            </a: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：signed bandpass；红色为正向波动，蓝色为负向波动。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360920" y="2414016"/>
            <a:ext cx="68580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246888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74736" y="2340864"/>
            <a:ext cx="349300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2514600"/>
            <a:ext cx="3154680" cy="8503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带通后显示的是时间变化量，不是普通亮度图。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组织运动、散斑变化仍可能进入 0.5–8.5 Hz。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因此 Step 01 不能直接等同于“微泡图”。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7360920" y="3858768"/>
            <a:ext cx="685800" cy="320040"/>
          </a:xfrm>
          <a:prstGeom prst="roundRect">
            <a:avLst>
              <a:gd name="adj" fmla="val 20000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60920" y="391363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74736" y="3785616"/>
            <a:ext cx="3493008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8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39328" y="3950208"/>
            <a:ext cx="31455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02｜二维高斯滤波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39328" y="4261104"/>
            <a:ext cx="3154680" cy="59436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从时间滤波转向空间滤波：逐帧处理局部亮斑。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降低孤立散斑，让微泡 blob 更连续。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为后续 peak detection / 亚像素定位提供稳定输入。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960120" y="5403850"/>
            <a:ext cx="1783080" cy="75882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D8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5468112"/>
            <a:ext cx="17830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01 输出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987552" y="5852160"/>
            <a:ext cx="17282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signed bandpass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human_filtered.npy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3127248" y="5614416"/>
            <a:ext cx="274320" cy="0"/>
          </a:xfrm>
          <a:prstGeom prst="line">
            <a:avLst/>
          </a:prstGeom>
          <a:noFill/>
          <a:ln w="15240">
            <a:solidFill>
              <a:srgbClr val="24486B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520440" y="5403850"/>
            <a:ext cx="1783080" cy="7429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D8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20440" y="5468112"/>
            <a:ext cx="17830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当前问题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3547872" y="5852160"/>
            <a:ext cx="17282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散斑与局部波动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仍然明显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5687568" y="5614416"/>
            <a:ext cx="274320" cy="0"/>
          </a:xfrm>
          <a:prstGeom prst="line">
            <a:avLst/>
          </a:prstGeom>
          <a:noFill/>
          <a:ln w="15240">
            <a:solidFill>
              <a:srgbClr val="24486B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080760" y="5403850"/>
            <a:ext cx="1783080" cy="704850"/>
          </a:xfrm>
          <a:prstGeom prst="roundRect">
            <a:avLst>
              <a:gd name="adj" fmla="val 11111"/>
            </a:avLst>
          </a:prstGeom>
          <a:solidFill>
            <a:srgbClr val="24486B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5468112"/>
            <a:ext cx="17830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6108192" y="5852160"/>
            <a:ext cx="1728216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Gaussian filter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空间平滑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247888" y="5614416"/>
            <a:ext cx="274320" cy="0"/>
          </a:xfrm>
          <a:prstGeom prst="line">
            <a:avLst/>
          </a:prstGeom>
          <a:noFill/>
          <a:ln w="15240">
            <a:solidFill>
              <a:srgbClr val="24486B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641080" y="5403850"/>
            <a:ext cx="1783080" cy="73215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D8D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41080" y="5468112"/>
            <a:ext cx="17830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8668512" y="5852160"/>
            <a:ext cx="172821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peak detection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72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定位与追踪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786384" y="6272784"/>
            <a:ext cx="10287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448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讲解口径：Step 01 先把“随时间变化的成分”提出来；Step 02 再把“空间上零碎的响应”平滑成更稳定的亮斑。</a:t>
            </a:r>
            <a:endParaRPr lang="en-US" sz="10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294A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10896"/>
            <a:ext cx="1234440" cy="384048"/>
          </a:xfrm>
          <a:prstGeom prst="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83080" y="246888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二维高斯滤波：保留 signed 的空间平滑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877824"/>
            <a:ext cx="685800" cy="0"/>
          </a:xfrm>
          <a:prstGeom prst="line">
            <a:avLst/>
          </a:prstGeom>
          <a:noFill/>
          <a:ln w="17780">
            <a:solidFill>
              <a:srgbClr val="2C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868680" cy="310896"/>
          </a:xfrm>
          <a:prstGeom prst="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1078992"/>
            <a:ext cx="42519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207008"/>
            <a:ext cx="3977640" cy="676656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human_filtered.npy：Step 01 的 signed bandpass 输出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形状 [T,H,W]，数值允许正负；红/蓝表示变亮/变暗方向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868680" cy="310896"/>
          </a:xfrm>
          <a:prstGeom prst="rect">
            <a:avLst/>
          </a:prstGeom>
          <a:solidFill>
            <a:srgbClr val="8FCAC8"/>
          </a:solidFill>
          <a:ln>
            <a:solidFill>
              <a:srgbClr val="8FCAC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08760" y="2267712"/>
            <a:ext cx="42519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404872"/>
            <a:ext cx="3977640" cy="7498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对每一帧 image[t,:,:] 做二维 Gaussian 卷积，只沿空间 x-y 平滑。</a:t>
            </a:r>
            <a:endParaRPr lang="en-US" sz="1420" dirty="0"/>
          </a:p>
          <a:p>
            <a:pPr marL="0" indent="0">
              <a:buNone/>
            </a:pPr>
            <a:r>
              <a:rPr lang="en-US" sz="1420" b="1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不沿时间轴滤波；不做 abs；不做 normalization；不做阈值检测。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627632" y="3319272"/>
            <a:ext cx="3794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617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smoothed[t] = Gaussianσ  *  signed_bandpass[t]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50792"/>
            <a:ext cx="868680" cy="310896"/>
          </a:xfrm>
          <a:prstGeom prst="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3886200"/>
            <a:ext cx="42519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4032504"/>
            <a:ext cx="3977640" cy="5943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human_smoothed.npy：signed float32 [T,H,W]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含义仍是带通后的正负动态变化，只是空间上更平滑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6172200" y="932688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C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实现与软件包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080760" y="1316736"/>
            <a:ext cx="5532120" cy="2066544"/>
          </a:xfrm>
          <a:prstGeom prst="rect">
            <a:avLst/>
          </a:prstGeom>
          <a:solidFill>
            <a:srgbClr val="F1F7F7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609344"/>
            <a:ext cx="5138928" cy="11430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from scipy.ndimage import gaussian_filter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def gaussian_smooth_frame(frame):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return gaussian_filter(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frame, sigma=config.GAUSSIAN_SIGMA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).astype(np.float32)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2862072"/>
            <a:ext cx="5102352" cy="256032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0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核心包：scipy.ndimage.gaussian_filter；辅助：numpy / open_memmap / matplotlib 可视化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080760" y="3822192"/>
            <a:ext cx="55321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398678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为什么保持 signed？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2784" y="4343400"/>
            <a:ext cx="4983480" cy="59436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 只降低孤立像素噪声，不改变“正向变亮 / 负向变暗”的语义。是否转为非负检测图，留到 Step 03 决定。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1207008" y="1371600"/>
            <a:ext cx="228600" cy="0"/>
          </a:xfrm>
          <a:prstGeom prst="line">
            <a:avLst/>
          </a:prstGeom>
          <a:noFill/>
          <a:ln w="12700">
            <a:solidFill>
              <a:srgbClr val="C6D9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2578608"/>
            <a:ext cx="228600" cy="0"/>
          </a:xfrm>
          <a:prstGeom prst="line">
            <a:avLst/>
          </a:prstGeom>
          <a:noFill/>
          <a:ln w="12700">
            <a:solidFill>
              <a:srgbClr val="C6D9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" y="4206240"/>
            <a:ext cx="228600" cy="0"/>
          </a:xfrm>
          <a:prstGeom prst="line">
            <a:avLst/>
          </a:prstGeom>
          <a:noFill/>
          <a:ln w="12700">
            <a:solidFill>
              <a:srgbClr val="C6D9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6510528"/>
            <a:ext cx="11430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A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 目标：空间平滑 signed bandpass 输出，降低孤立噪声，为 Step 03 的正向峰值检测提供更稳定输入。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10896"/>
            <a:ext cx="1234440" cy="384048"/>
          </a:xfrm>
          <a:prstGeom prst="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783080" y="246888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图像效果：孤立噪点减少，正负动态方向保留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877824"/>
            <a:ext cx="685800" cy="0"/>
          </a:xfrm>
          <a:prstGeom prst="line">
            <a:avLst/>
          </a:prstGeom>
          <a:noFill/>
          <a:ln w="17780">
            <a:solidFill>
              <a:srgbClr val="2C4E78"/>
            </a:solidFill>
            <a:prstDash val="solid"/>
          </a:ln>
        </p:spPr>
      </p:sp>
      <p:pic>
        <p:nvPicPr>
          <p:cNvPr id="5" name="Image 0" descr="/mnt/data/77ed111e-93b2-4471-98b6-f449783748f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33272"/>
            <a:ext cx="7360920" cy="3685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83296" y="102412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C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读图要点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991856" y="1444752"/>
            <a:ext cx="37490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6448" y="1609344"/>
            <a:ext cx="3346704" cy="160020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左图：Step 1 signed bandpass，红蓝细碎斑块较多。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右图：Step 2 signed Gaussian smoothed，相邻像素被平滑，孤立小点减弱，局部结构更连续。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红=正向变亮，蓝=负向变暗，白≈0；色标用于查看真实 signed 数值范围。</a:t>
            </a:r>
            <a:endParaRPr lang="en-US" sz="1270" dirty="0"/>
          </a:p>
        </p:txBody>
      </p:sp>
      <p:sp>
        <p:nvSpPr>
          <p:cNvPr id="9" name="Text 6"/>
          <p:cNvSpPr/>
          <p:nvPr/>
        </p:nvSpPr>
        <p:spPr>
          <a:xfrm>
            <a:off x="8083296" y="367588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2C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它不是检测结果</a:t>
            </a:r>
            <a:endParaRPr lang="en-US" sz="1580" dirty="0"/>
          </a:p>
        </p:txBody>
      </p:sp>
      <p:sp>
        <p:nvSpPr>
          <p:cNvPr id="10" name="Shape 7"/>
          <p:cNvSpPr/>
          <p:nvPr/>
        </p:nvSpPr>
        <p:spPr>
          <a:xfrm>
            <a:off x="7991856" y="4069080"/>
            <a:ext cx="3749040" cy="914400"/>
          </a:xfrm>
          <a:prstGeom prst="rect">
            <a:avLst/>
          </a:prstGeom>
          <a:solidFill>
            <a:srgbClr val="F1F7F7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4224528"/>
            <a:ext cx="3401568" cy="502920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02 不选峰值、不分类速度；它只把 Step 01 的 signed 图像做空间平滑。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411480" y="5193792"/>
            <a:ext cx="11311128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6D9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537667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C4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 Step 03：只检测正向变亮区域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4297680" y="5340096"/>
            <a:ext cx="3429000" cy="292608"/>
          </a:xfrm>
          <a:prstGeom prst="rect">
            <a:avLst/>
          </a:prstGeom>
          <a:solidFill>
            <a:srgbClr val="EEF6F5"/>
          </a:solidFill>
          <a:ln w="6350">
            <a:solidFill>
              <a:srgbClr val="C6D9D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C2B3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response = max(signed_smoothed_frame, 0)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7973568" y="5367528"/>
            <a:ext cx="3337560" cy="2926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C2B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负向波动不作为候选微泡；再用 peak_local_max 找局部峰值，随后进入匈牙利轨迹追踪。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384048" y="6510528"/>
            <a:ext cx="11430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7A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图像对比应使用中间帧、signed 色标和 colorbar；不要用 abs 或独立归一化判断 Step 02 的真实效果。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342882" y="624986"/>
            <a:ext cx="571470" cy="26669"/>
          </a:xfrm>
          <a:prstGeom prst="rect">
            <a:avLst/>
          </a:prstGeom>
          <a:solidFill>
            <a:srgbClr val="315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342882" y="190669"/>
            <a:ext cx="6623685" cy="424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930"/>
                </a:solidFill>
                <a:latin typeface="Noto Sans CJK SC"/>
              </a:defRPr>
            </a:pPr>
            <a:r>
              <a:rPr sz="2165"/>
              <a:t>Step 03｜正向峰值检测</a:t>
            </a:r>
            <a:r>
              <a:rPr lang="en-US" sz="2165"/>
              <a:t>+</a:t>
            </a:r>
            <a:r>
              <a:rPr lang="zh-CN" altLang="en-US" sz="2165"/>
              <a:t>基于匈牙利算法</a:t>
            </a:r>
            <a:r>
              <a:rPr lang="zh-CN" altLang="en-US" sz="2165"/>
              <a:t>的轨迹</a:t>
            </a:r>
            <a:r>
              <a:rPr lang="zh-CN" altLang="en-US" sz="2165"/>
              <a:t>追踪</a:t>
            </a:r>
            <a:endParaRPr lang="zh-CN" altLang="en-US" sz="2165"/>
          </a:p>
        </p:txBody>
      </p:sp>
      <p:sp>
        <p:nvSpPr>
          <p:cNvPr id="5" name="TextBox 4"/>
          <p:cNvSpPr txBox="1"/>
          <p:nvPr/>
        </p:nvSpPr>
        <p:spPr>
          <a:xfrm>
            <a:off x="358121" y="663084"/>
            <a:ext cx="517525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B"/>
                </a:solidFill>
                <a:latin typeface="Noto Sans CJK SC"/>
              </a:defRPr>
            </a:pPr>
            <a:r>
              <a:rPr sz="1000"/>
              <a:t>从 signed Gaussian 图像到候选点，再由匈牙利算法连接成轨迹；检测点不是最终轨迹。</a:t>
            </a:r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11505583" y="6438742"/>
            <a:ext cx="342900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27B"/>
                </a:solidFill>
                <a:latin typeface="Noto Sans CJK SC"/>
              </a:defRPr>
            </a:pPr>
            <a:r>
              <a:rPr sz="835"/>
              <a:t>1/4</a:t>
            </a:r>
            <a:endParaRPr sz="835"/>
          </a:p>
        </p:txBody>
      </p:sp>
      <p:pic>
        <p:nvPicPr>
          <p:cNvPr id="8" name="Picture 7" descr="dd82e7ec-98df-44b0-b7cc-b2348efaf7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74" y="1371707"/>
            <a:ext cx="11238915" cy="31170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5274" y="5371999"/>
            <a:ext cx="3543115" cy="800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71519C"/>
                </a:solidFill>
                <a:latin typeface="Noto Sans CJK SC"/>
              </a:defRPr>
            </a:pPr>
            <a:r>
              <a:rPr sz="2800" baseline="-25000"/>
              <a:t>1｜signed 输入</a:t>
            </a:r>
            <a:endParaRPr sz="28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Step 02 输出仍保留正负号</a:t>
            </a:r>
            <a:endParaRPr sz="20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红/蓝表示相对基线的正/负波动</a:t>
            </a:r>
            <a:endParaRPr sz="2000" baseline="-25000"/>
          </a:p>
        </p:txBody>
      </p:sp>
      <p:sp>
        <p:nvSpPr>
          <p:cNvPr id="10" name="Rounded Rectangle 9"/>
          <p:cNvSpPr/>
          <p:nvPr/>
        </p:nvSpPr>
        <p:spPr>
          <a:xfrm>
            <a:off x="4305076" y="5371999"/>
            <a:ext cx="3466919" cy="800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2E915C"/>
                </a:solidFill>
                <a:latin typeface="Noto Sans CJK SC"/>
              </a:defRPr>
            </a:pPr>
            <a:r>
              <a:rPr sz="2800" baseline="-25000"/>
              <a:t>2｜正向响应</a:t>
            </a:r>
            <a:endParaRPr sz="28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response = max(frame, 0)</a:t>
            </a:r>
            <a:endParaRPr sz="20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只保留“变亮”的候选微泡信号</a:t>
            </a:r>
            <a:endParaRPr sz="2000" baseline="-25000"/>
          </a:p>
        </p:txBody>
      </p:sp>
      <p:sp>
        <p:nvSpPr>
          <p:cNvPr id="11" name="Rounded Rectangle 10"/>
          <p:cNvSpPr/>
          <p:nvPr/>
        </p:nvSpPr>
        <p:spPr>
          <a:xfrm>
            <a:off x="8038681" y="5371999"/>
            <a:ext cx="3695508" cy="8000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CD2D2D"/>
                </a:solidFill>
                <a:latin typeface="Noto Sans CJK SC"/>
              </a:defRPr>
            </a:pPr>
            <a:r>
              <a:rPr sz="2800" baseline="-25000"/>
              <a:t>3｜峰值检测</a:t>
            </a:r>
            <a:endParaRPr sz="28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peak_local_max 找局部亮点</a:t>
            </a:r>
            <a:endParaRPr sz="2000" baseline="-25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2000" baseline="-25000"/>
              <a:t>红圈只是当前帧候选点，不等于轨迹</a:t>
            </a:r>
            <a:endParaRPr sz="2000" baseline="-2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342882" y="624986"/>
            <a:ext cx="571470" cy="26669"/>
          </a:xfrm>
          <a:prstGeom prst="rect">
            <a:avLst/>
          </a:prstGeom>
          <a:solidFill>
            <a:srgbClr val="315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342900" y="190500"/>
            <a:ext cx="7216140" cy="42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12930"/>
                </a:solidFill>
                <a:latin typeface="Noto Sans CJK SC"/>
              </a:defRPr>
            </a:pPr>
            <a:r>
              <a:rPr sz="2165">
                <a:sym typeface="+mn-ea"/>
              </a:rPr>
              <a:t>Step 03｜</a:t>
            </a:r>
            <a:r>
              <a:rPr sz="2165"/>
              <a:t>匈牙利算法：把相邻帧检测点变成轨迹</a:t>
            </a:r>
            <a:endParaRPr sz="2165"/>
          </a:p>
        </p:txBody>
      </p:sp>
      <p:sp>
        <p:nvSpPr>
          <p:cNvPr id="5" name="TextBox 4"/>
          <p:cNvSpPr txBox="1"/>
          <p:nvPr/>
        </p:nvSpPr>
        <p:spPr>
          <a:xfrm>
            <a:off x="358121" y="663084"/>
            <a:ext cx="311277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B"/>
                </a:solidFill>
                <a:latin typeface="Noto Sans CJK SC"/>
              </a:defRPr>
            </a:pPr>
            <a:r>
              <a:rPr sz="1000"/>
              <a:t>核心不是“标红点”，而是构建跨帧的最小代价匹配。</a:t>
            </a:r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11483993" y="6438742"/>
            <a:ext cx="364490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27B"/>
                </a:solidFill>
                <a:latin typeface="Noto Sans CJK SC"/>
              </a:defRPr>
            </a:pPr>
            <a:r>
              <a:rPr sz="835"/>
              <a:t>3/4</a:t>
            </a:r>
            <a:endParaRPr sz="835"/>
          </a:p>
        </p:txBody>
      </p:sp>
      <p:sp>
        <p:nvSpPr>
          <p:cNvPr id="8" name="TextBox 7"/>
          <p:cNvSpPr txBox="1"/>
          <p:nvPr/>
        </p:nvSpPr>
        <p:spPr>
          <a:xfrm>
            <a:off x="1066760" y="1250439"/>
            <a:ext cx="1653540" cy="2584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15077"/>
                </a:solidFill>
                <a:latin typeface="Noto Sans CJK SC"/>
              </a:defRPr>
            </a:pPr>
            <a:r>
              <a:rPr sz="1085"/>
              <a:t>frame t：active tracks</a:t>
            </a:r>
            <a:endParaRPr sz="1085"/>
          </a:p>
        </p:txBody>
      </p:sp>
      <p:sp>
        <p:nvSpPr>
          <p:cNvPr id="9" name="TextBox 8"/>
          <p:cNvSpPr txBox="1"/>
          <p:nvPr/>
        </p:nvSpPr>
        <p:spPr>
          <a:xfrm>
            <a:off x="3771704" y="1051684"/>
            <a:ext cx="1963420" cy="2584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15077"/>
                </a:solidFill>
                <a:latin typeface="Noto Sans CJK SC"/>
              </a:defRPr>
            </a:pPr>
            <a:r>
              <a:rPr sz="1085"/>
              <a:t>frame t+1：detected peaks</a:t>
            </a:r>
            <a:endParaRPr sz="1085"/>
          </a:p>
        </p:txBody>
      </p:sp>
      <p:sp>
        <p:nvSpPr>
          <p:cNvPr id="10" name="Oval 9"/>
          <p:cNvSpPr/>
          <p:nvPr/>
        </p:nvSpPr>
        <p:spPr>
          <a:xfrm>
            <a:off x="876254" y="1524099"/>
            <a:ext cx="190490" cy="190490"/>
          </a:xfrm>
          <a:prstGeom prst="ellipse">
            <a:avLst/>
          </a:prstGeom>
          <a:solidFill>
            <a:srgbClr val="C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" name="TextBox 10"/>
          <p:cNvSpPr txBox="1"/>
          <p:nvPr/>
        </p:nvSpPr>
        <p:spPr>
          <a:xfrm>
            <a:off x="1142940" y="1508860"/>
            <a:ext cx="29146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T1</a:t>
            </a:r>
            <a:endParaRPr sz="835"/>
          </a:p>
        </p:txBody>
      </p:sp>
      <p:sp>
        <p:nvSpPr>
          <p:cNvPr id="12" name="Oval 11"/>
          <p:cNvSpPr/>
          <p:nvPr/>
        </p:nvSpPr>
        <p:spPr>
          <a:xfrm>
            <a:off x="876254" y="2362256"/>
            <a:ext cx="190490" cy="190490"/>
          </a:xfrm>
          <a:prstGeom prst="ellipse">
            <a:avLst/>
          </a:prstGeom>
          <a:solidFill>
            <a:srgbClr val="2E9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TextBox 12"/>
          <p:cNvSpPr txBox="1"/>
          <p:nvPr/>
        </p:nvSpPr>
        <p:spPr>
          <a:xfrm>
            <a:off x="1142940" y="2347016"/>
            <a:ext cx="31305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T2</a:t>
            </a:r>
            <a:endParaRPr sz="835"/>
          </a:p>
        </p:txBody>
      </p:sp>
      <p:sp>
        <p:nvSpPr>
          <p:cNvPr id="14" name="Oval 13"/>
          <p:cNvSpPr/>
          <p:nvPr/>
        </p:nvSpPr>
        <p:spPr>
          <a:xfrm>
            <a:off x="876254" y="3238510"/>
            <a:ext cx="190490" cy="190490"/>
          </a:xfrm>
          <a:prstGeom prst="ellipse">
            <a:avLst/>
          </a:prstGeom>
          <a:solidFill>
            <a:srgbClr val="31507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1142940" y="3223271"/>
            <a:ext cx="31305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T3</a:t>
            </a:r>
            <a:endParaRPr sz="835"/>
          </a:p>
        </p:txBody>
      </p:sp>
      <p:sp>
        <p:nvSpPr>
          <p:cNvPr id="16" name="Oval 15"/>
          <p:cNvSpPr/>
          <p:nvPr/>
        </p:nvSpPr>
        <p:spPr>
          <a:xfrm>
            <a:off x="876254" y="4076666"/>
            <a:ext cx="190490" cy="190490"/>
          </a:xfrm>
          <a:prstGeom prst="ellipse">
            <a:avLst/>
          </a:prstGeom>
          <a:solidFill>
            <a:srgbClr val="71519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TextBox 16"/>
          <p:cNvSpPr txBox="1"/>
          <p:nvPr/>
        </p:nvSpPr>
        <p:spPr>
          <a:xfrm>
            <a:off x="1142940" y="4061427"/>
            <a:ext cx="31305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T4</a:t>
            </a:r>
            <a:endParaRPr sz="835"/>
          </a:p>
        </p:txBody>
      </p:sp>
      <p:sp>
        <p:nvSpPr>
          <p:cNvPr id="18" name="Oval 17"/>
          <p:cNvSpPr/>
          <p:nvPr/>
        </p:nvSpPr>
        <p:spPr>
          <a:xfrm>
            <a:off x="3962194" y="1333609"/>
            <a:ext cx="190490" cy="190490"/>
          </a:xfrm>
          <a:prstGeom prst="ellipse">
            <a:avLst/>
          </a:prstGeom>
          <a:solidFill>
            <a:srgbClr val="C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9" name="TextBox 18"/>
          <p:cNvSpPr txBox="1"/>
          <p:nvPr/>
        </p:nvSpPr>
        <p:spPr>
          <a:xfrm>
            <a:off x="4228880" y="1318370"/>
            <a:ext cx="29400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P1</a:t>
            </a:r>
            <a:endParaRPr sz="835"/>
          </a:p>
        </p:txBody>
      </p:sp>
      <p:sp>
        <p:nvSpPr>
          <p:cNvPr id="20" name="Oval 19"/>
          <p:cNvSpPr/>
          <p:nvPr/>
        </p:nvSpPr>
        <p:spPr>
          <a:xfrm>
            <a:off x="3962194" y="2171765"/>
            <a:ext cx="190490" cy="190490"/>
          </a:xfrm>
          <a:prstGeom prst="ellipse">
            <a:avLst/>
          </a:prstGeom>
          <a:solidFill>
            <a:srgbClr val="C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" name="TextBox 20"/>
          <p:cNvSpPr txBox="1"/>
          <p:nvPr/>
        </p:nvSpPr>
        <p:spPr>
          <a:xfrm>
            <a:off x="4228880" y="2156526"/>
            <a:ext cx="31559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P2</a:t>
            </a:r>
            <a:endParaRPr sz="835"/>
          </a:p>
        </p:txBody>
      </p:sp>
      <p:sp>
        <p:nvSpPr>
          <p:cNvPr id="22" name="Oval 21"/>
          <p:cNvSpPr/>
          <p:nvPr/>
        </p:nvSpPr>
        <p:spPr>
          <a:xfrm>
            <a:off x="3962194" y="3390902"/>
            <a:ext cx="190490" cy="190490"/>
          </a:xfrm>
          <a:prstGeom prst="ellipse">
            <a:avLst/>
          </a:prstGeom>
          <a:solidFill>
            <a:srgbClr val="C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TextBox 22"/>
          <p:cNvSpPr txBox="1"/>
          <p:nvPr/>
        </p:nvSpPr>
        <p:spPr>
          <a:xfrm>
            <a:off x="4228880" y="3375663"/>
            <a:ext cx="31559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P3</a:t>
            </a:r>
            <a:endParaRPr sz="835"/>
          </a:p>
        </p:txBody>
      </p:sp>
      <p:sp>
        <p:nvSpPr>
          <p:cNvPr id="24" name="Oval 23"/>
          <p:cNvSpPr/>
          <p:nvPr/>
        </p:nvSpPr>
        <p:spPr>
          <a:xfrm>
            <a:off x="3962194" y="4495744"/>
            <a:ext cx="190490" cy="190490"/>
          </a:xfrm>
          <a:prstGeom prst="ellipse">
            <a:avLst/>
          </a:prstGeom>
          <a:solidFill>
            <a:srgbClr val="2E91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4228880" y="4480505"/>
            <a:ext cx="31559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P4</a:t>
            </a:r>
            <a:endParaRPr sz="835"/>
          </a:p>
        </p:txBody>
      </p:sp>
      <p:sp>
        <p:nvSpPr>
          <p:cNvPr id="26" name="Oval 25"/>
          <p:cNvSpPr/>
          <p:nvPr/>
        </p:nvSpPr>
        <p:spPr>
          <a:xfrm>
            <a:off x="3962194" y="5105313"/>
            <a:ext cx="190490" cy="190490"/>
          </a:xfrm>
          <a:prstGeom prst="ellipse">
            <a:avLst/>
          </a:prstGeom>
          <a:solidFill>
            <a:srgbClr val="CD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7" name="TextBox 26"/>
          <p:cNvSpPr txBox="1"/>
          <p:nvPr/>
        </p:nvSpPr>
        <p:spPr>
          <a:xfrm>
            <a:off x="4228880" y="5090073"/>
            <a:ext cx="315595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930"/>
                </a:solidFill>
                <a:latin typeface="Noto Sans CJK SC"/>
              </a:defRPr>
            </a:pPr>
            <a:r>
              <a:rPr sz="835"/>
              <a:t>P5</a:t>
            </a:r>
            <a:endParaRPr sz="835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081984" y="1425044"/>
            <a:ext cx="2880210" cy="190490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81984" y="1615534"/>
            <a:ext cx="2880210" cy="647666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81984" y="2263201"/>
            <a:ext cx="2880210" cy="190490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1984" y="2453691"/>
            <a:ext cx="2880210" cy="1028646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1984" y="3329945"/>
            <a:ext cx="2880210" cy="152392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81984" y="3329945"/>
            <a:ext cx="2880210" cy="1257235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81984" y="4168102"/>
            <a:ext cx="2880210" cy="419078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1984" y="4168102"/>
            <a:ext cx="2880210" cy="1028646"/>
          </a:xfrm>
          <a:prstGeom prst="line">
            <a:avLst/>
          </a:prstGeom>
          <a:ln w="12700">
            <a:solidFill>
              <a:srgbClr val="BEC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1984" y="1615534"/>
            <a:ext cx="2880210" cy="647666"/>
          </a:xfrm>
          <a:prstGeom prst="line">
            <a:avLst/>
          </a:prstGeom>
          <a:ln w="33020">
            <a:solidFill>
              <a:srgbClr val="2E9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81984" y="2453691"/>
            <a:ext cx="2880210" cy="1028646"/>
          </a:xfrm>
          <a:prstGeom prst="line">
            <a:avLst/>
          </a:prstGeom>
          <a:ln w="33020">
            <a:solidFill>
              <a:srgbClr val="2E9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1984" y="3329945"/>
            <a:ext cx="2880210" cy="1257235"/>
          </a:xfrm>
          <a:prstGeom prst="line">
            <a:avLst/>
          </a:prstGeom>
          <a:ln w="33020">
            <a:solidFill>
              <a:srgbClr val="2E9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81984" y="4168102"/>
            <a:ext cx="2880210" cy="1028646"/>
          </a:xfrm>
          <a:prstGeom prst="line">
            <a:avLst/>
          </a:prstGeom>
          <a:ln w="33020">
            <a:solidFill>
              <a:srgbClr val="2E9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71879" y="1105021"/>
            <a:ext cx="2552567" cy="1142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315077"/>
                </a:solidFill>
                <a:latin typeface="Noto Sans CJK SC"/>
              </a:defRPr>
            </a:pPr>
            <a:r>
              <a:rPr sz="1400"/>
              <a:t>代价矩阵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cost[i,j] = distance(track_i.last, peak_j)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距离越小，越可能是同一个微泡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超过最大位移：cost = 1e9，禁止连接</a:t>
            </a:r>
            <a:endParaRPr sz="1080"/>
          </a:p>
        </p:txBody>
      </p:sp>
      <p:sp>
        <p:nvSpPr>
          <p:cNvPr id="41" name="Rounded Rectangle 40"/>
          <p:cNvSpPr/>
          <p:nvPr/>
        </p:nvSpPr>
        <p:spPr>
          <a:xfrm>
            <a:off x="6171879" y="2476550"/>
            <a:ext cx="2552567" cy="876254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CC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5" tIns="76196" rIns="91435" rtlCol="0" anchor="ctr"/>
          <a:lstStyle/>
          <a:p>
            <a:pPr algn="ctr">
              <a:defRPr sz="920">
                <a:solidFill>
                  <a:srgbClr val="20303A"/>
                </a:solidFill>
                <a:latin typeface="DejaVu Sans Mono"/>
              </a:defRPr>
            </a:pPr>
            <a:r>
              <a:rPr sz="970"/>
              <a:t>cost = cdist(last_xy, point_xy)</a:t>
            </a:r>
            <a:br>
              <a:rPr sz="970"/>
            </a:br>
            <a:r>
              <a:rPr sz="970"/>
              <a:t>cost[cost &gt; max_dist] = 1e9</a:t>
            </a:r>
            <a:br>
              <a:rPr sz="970"/>
            </a:br>
            <a:r>
              <a:rPr sz="970"/>
              <a:t>rows, cols = linear_sum_assignment(cost)</a:t>
            </a:r>
            <a:endParaRPr sz="970"/>
          </a:p>
        </p:txBody>
      </p:sp>
      <p:sp>
        <p:nvSpPr>
          <p:cNvPr id="42" name="Rounded Rectangle 41"/>
          <p:cNvSpPr/>
          <p:nvPr/>
        </p:nvSpPr>
        <p:spPr>
          <a:xfrm>
            <a:off x="9029230" y="1105021"/>
            <a:ext cx="2552567" cy="1142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2E915C"/>
                </a:solidFill>
                <a:latin typeface="Noto Sans CJK SC"/>
              </a:defRPr>
            </a:pPr>
            <a:r>
              <a:rPr sz="1400"/>
              <a:t>全局最优匹配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不是每个点贪心找最近邻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而是在一整帧内最小化总代价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避免多个轨迹抢同一个检测点</a:t>
            </a:r>
            <a:endParaRPr sz="1080"/>
          </a:p>
        </p:txBody>
      </p:sp>
      <p:sp>
        <p:nvSpPr>
          <p:cNvPr id="43" name="Rounded Rectangle 42"/>
          <p:cNvSpPr/>
          <p:nvPr/>
        </p:nvSpPr>
        <p:spPr>
          <a:xfrm>
            <a:off x="9029230" y="2476550"/>
            <a:ext cx="2552567" cy="8762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DE893A"/>
                </a:solidFill>
                <a:latin typeface="Noto Sans CJK SC"/>
              </a:defRPr>
            </a:pPr>
            <a:r>
              <a:rPr sz="1400"/>
              <a:t>匹配结果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track_i ← peak_j：追加到同一轨迹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未匹配检测点：新建轨迹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未匹配轨迹：missing + 1</a:t>
            </a:r>
            <a:endParaRPr sz="1080"/>
          </a:p>
        </p:txBody>
      </p:sp>
      <p:sp>
        <p:nvSpPr>
          <p:cNvPr id="44" name="Rounded Rectangle 43"/>
          <p:cNvSpPr/>
          <p:nvPr/>
        </p:nvSpPr>
        <p:spPr>
          <a:xfrm>
            <a:off x="6171879" y="3809980"/>
            <a:ext cx="5409918" cy="13334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71519C"/>
                </a:solidFill>
                <a:latin typeface="Noto Sans CJK SC"/>
              </a:defRPr>
            </a:pPr>
            <a:r>
              <a:rPr sz="1400"/>
              <a:t>追踪约束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MAX_FRAME_DISPLACEMENT_PX：限制相邻帧最大位移，过滤不合理跳变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MAX_MISSING_FRAMES：允许短时丢失，超过后终止轨迹</a:t>
            </a:r>
            <a:endParaRPr sz="108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80"/>
              <a:t>MIN_TRACK_LENGTH：太短的轨迹视为无效，减少误检点造成的假轨迹</a:t>
            </a:r>
            <a:endParaRPr sz="10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342882" y="624986"/>
            <a:ext cx="571470" cy="26669"/>
          </a:xfrm>
          <a:prstGeom prst="rect">
            <a:avLst/>
          </a:prstGeom>
          <a:solidFill>
            <a:srgbClr val="315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342900" y="190500"/>
            <a:ext cx="6179820" cy="4229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600" b="1">
                <a:solidFill>
                  <a:srgbClr val="212930"/>
                </a:solidFill>
                <a:latin typeface="Noto Sans CJK SC"/>
              </a:defRPr>
            </a:pPr>
            <a:r>
              <a:rPr sz="2165">
                <a:sym typeface="+mn-ea"/>
              </a:rPr>
              <a:t>Step 03｜</a:t>
            </a:r>
            <a:r>
              <a:rPr sz="2165"/>
              <a:t>轨迹管理：从局部匹配到完整微泡轨迹</a:t>
            </a:r>
            <a:endParaRPr sz="2165"/>
          </a:p>
        </p:txBody>
      </p:sp>
      <p:sp>
        <p:nvSpPr>
          <p:cNvPr id="5" name="TextBox 4"/>
          <p:cNvSpPr txBox="1"/>
          <p:nvPr/>
        </p:nvSpPr>
        <p:spPr>
          <a:xfrm>
            <a:off x="358121" y="663084"/>
            <a:ext cx="411734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27B"/>
                </a:solidFill>
                <a:latin typeface="Noto Sans CJK SC"/>
              </a:defRPr>
            </a:pPr>
            <a:r>
              <a:rPr sz="1000"/>
              <a:t>Step 03 输出 tracks.csv；速度分组、密度图和指标已拆到 Step 04。</a:t>
            </a:r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11483993" y="6438742"/>
            <a:ext cx="364490" cy="219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27B"/>
                </a:solidFill>
                <a:latin typeface="Noto Sans CJK SC"/>
              </a:defRPr>
            </a:pPr>
            <a:r>
              <a:rPr sz="835"/>
              <a:t>4/4</a:t>
            </a:r>
            <a:endParaRPr sz="835"/>
          </a:p>
        </p:txBody>
      </p:sp>
      <p:sp>
        <p:nvSpPr>
          <p:cNvPr id="8" name="Rounded Rectangle 7"/>
          <p:cNvSpPr/>
          <p:nvPr/>
        </p:nvSpPr>
        <p:spPr>
          <a:xfrm>
            <a:off x="571470" y="1181217"/>
            <a:ext cx="1942999" cy="9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315077"/>
                </a:solidFill>
                <a:latin typeface="Noto Sans CJK SC"/>
              </a:defRPr>
            </a:pPr>
            <a:r>
              <a:rPr sz="1400"/>
              <a:t>读取检测点</a:t>
            </a:r>
            <a:endParaRPr sz="1400"/>
          </a:p>
          <a:p>
            <a:pPr algn="ctr">
              <a:defRPr sz="1300" b="1">
                <a:solidFill>
                  <a:srgbClr val="315077"/>
                </a:solidFill>
                <a:latin typeface="Noto Sans CJK SC"/>
              </a:defRPr>
            </a:pP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detections.csv</a:t>
            </a:r>
            <a:endParaRPr sz="1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按 frame_id 分组</a:t>
            </a:r>
            <a:endParaRPr sz="1000"/>
          </a:p>
        </p:txBody>
      </p:sp>
      <p:cxnSp>
        <p:nvCxnSpPr>
          <p:cNvPr id="9" name="Connector 8"/>
          <p:cNvCxnSpPr/>
          <p:nvPr/>
        </p:nvCxnSpPr>
        <p:spPr>
          <a:xfrm>
            <a:off x="2514469" y="1661252"/>
            <a:ext cx="342882" cy="0"/>
          </a:xfrm>
          <a:prstGeom prst="line">
            <a:avLst/>
          </a:prstGeom>
          <a:ln w="19050">
            <a:solidFill>
              <a:srgbClr val="69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57351" y="1181217"/>
            <a:ext cx="1942999" cy="9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71519C"/>
                </a:solidFill>
                <a:latin typeface="Noto Sans CJK SC"/>
              </a:defRPr>
            </a:pPr>
            <a:r>
              <a:rPr sz="1400"/>
              <a:t>维护 active tracks</a:t>
            </a:r>
            <a:endParaRPr sz="1400"/>
          </a:p>
          <a:p>
            <a:pPr algn="ctr">
              <a:defRPr sz="1300" b="1">
                <a:solidFill>
                  <a:srgbClr val="71519C"/>
                </a:solidFill>
                <a:latin typeface="Noto Sans CJK SC"/>
              </a:defRPr>
            </a:pP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保存每条轨迹最后位置</a:t>
            </a:r>
            <a:endParaRPr sz="1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以及 missing 计数</a:t>
            </a:r>
            <a:endParaRPr sz="1000"/>
          </a:p>
        </p:txBody>
      </p:sp>
      <p:cxnSp>
        <p:nvCxnSpPr>
          <p:cNvPr id="11" name="Connector 10"/>
          <p:cNvCxnSpPr/>
          <p:nvPr/>
        </p:nvCxnSpPr>
        <p:spPr>
          <a:xfrm>
            <a:off x="4800350" y="1661252"/>
            <a:ext cx="342882" cy="0"/>
          </a:xfrm>
          <a:prstGeom prst="line">
            <a:avLst/>
          </a:prstGeom>
          <a:ln w="19050">
            <a:solidFill>
              <a:srgbClr val="69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43232" y="1181217"/>
            <a:ext cx="1942999" cy="9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2E915C"/>
                </a:solidFill>
                <a:latin typeface="Noto Sans CJK SC"/>
              </a:defRPr>
            </a:pPr>
            <a:r>
              <a:rPr sz="1400"/>
              <a:t>匈牙利匹配</a:t>
            </a:r>
            <a:endParaRPr sz="1400"/>
          </a:p>
          <a:p>
            <a:pPr algn="ctr">
              <a:defRPr sz="1300" b="1">
                <a:solidFill>
                  <a:srgbClr val="2E915C"/>
                </a:solidFill>
                <a:latin typeface="Noto Sans CJK SC"/>
              </a:defRPr>
            </a:pP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active tracks ↔ 当前帧 peaks</a:t>
            </a:r>
            <a:endParaRPr sz="1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最小化总距离</a:t>
            </a:r>
            <a:endParaRPr sz="1000"/>
          </a:p>
        </p:txBody>
      </p:sp>
      <p:cxnSp>
        <p:nvCxnSpPr>
          <p:cNvPr id="13" name="Connector 12"/>
          <p:cNvCxnSpPr/>
          <p:nvPr/>
        </p:nvCxnSpPr>
        <p:spPr>
          <a:xfrm>
            <a:off x="7086231" y="1661252"/>
            <a:ext cx="342882" cy="0"/>
          </a:xfrm>
          <a:prstGeom prst="line">
            <a:avLst/>
          </a:prstGeom>
          <a:ln w="19050">
            <a:solidFill>
              <a:srgbClr val="69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29113" y="1181217"/>
            <a:ext cx="1942999" cy="9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DE893A"/>
                </a:solidFill>
                <a:latin typeface="Noto Sans CJK SC"/>
              </a:defRPr>
            </a:pPr>
            <a:r>
              <a:rPr sz="1400"/>
              <a:t>更新轨迹状态</a:t>
            </a:r>
            <a:endParaRPr sz="1400"/>
          </a:p>
          <a:p>
            <a:pPr algn="ctr">
              <a:defRPr sz="1300" b="1">
                <a:solidFill>
                  <a:srgbClr val="DE893A"/>
                </a:solidFill>
                <a:latin typeface="Noto Sans CJK SC"/>
              </a:defRPr>
            </a:pP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匹配：追加点并算速度</a:t>
            </a:r>
            <a:endParaRPr sz="1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未匹配：新建/丢失/终止</a:t>
            </a:r>
            <a:endParaRPr sz="1000"/>
          </a:p>
        </p:txBody>
      </p:sp>
      <p:cxnSp>
        <p:nvCxnSpPr>
          <p:cNvPr id="15" name="Connector 14"/>
          <p:cNvCxnSpPr/>
          <p:nvPr/>
        </p:nvCxnSpPr>
        <p:spPr>
          <a:xfrm>
            <a:off x="9372112" y="1661252"/>
            <a:ext cx="342882" cy="0"/>
          </a:xfrm>
          <a:prstGeom prst="line">
            <a:avLst/>
          </a:prstGeom>
          <a:ln w="19050">
            <a:solidFill>
              <a:srgbClr val="69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14994" y="1181217"/>
            <a:ext cx="1942999" cy="9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CD2D2D"/>
                </a:solidFill>
                <a:latin typeface="Noto Sans CJK SC"/>
              </a:defRPr>
            </a:pPr>
            <a:r>
              <a:rPr sz="1400"/>
              <a:t>过滤并输出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len(points) ≥ MIN_TRACK_LENGTH</a:t>
            </a:r>
            <a:endParaRPr sz="10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000"/>
              <a:t>写出 human_tracks.csv</a:t>
            </a:r>
            <a:endParaRPr sz="1000"/>
          </a:p>
        </p:txBody>
      </p:sp>
      <p:sp>
        <p:nvSpPr>
          <p:cNvPr id="17" name="Rounded Rectangle 16"/>
          <p:cNvSpPr/>
          <p:nvPr/>
        </p:nvSpPr>
        <p:spPr>
          <a:xfrm>
            <a:off x="647666" y="2705138"/>
            <a:ext cx="3619311" cy="1790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315077"/>
                </a:solidFill>
                <a:latin typeface="Noto Sans CJK SC"/>
              </a:defRPr>
            </a:pPr>
            <a:r>
              <a:rPr sz="1800"/>
              <a:t>时间复杂度</a:t>
            </a:r>
            <a:endParaRPr sz="18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峰值检测：O(T · H · W)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相邻帧匹配：O(A · K + </a:t>
            </a:r>
            <a:r>
              <a:rPr sz="1400" b="1"/>
              <a:t>max(A,K)^3</a:t>
            </a:r>
            <a:r>
              <a:rPr sz="1400"/>
              <a:t>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总追踪：O(T · (A·K + max(A,K)^3))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K 越大，匈牙利匹配越慢</a:t>
            </a:r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4533664" y="2705138"/>
            <a:ext cx="3619311" cy="1790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71519C"/>
                </a:solidFill>
                <a:latin typeface="Noto Sans CJK SC"/>
              </a:defRPr>
            </a:pPr>
            <a:r>
              <a:rPr sz="1800"/>
              <a:t>空间复杂度</a:t>
            </a:r>
            <a:endParaRPr sz="18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主输入帧：O(T · H · W)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检测点/轨迹：O(D)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每帧代价矩阵：O(A · K)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A：活跃轨迹数；K：当前帧检测点数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8419661" y="2705138"/>
            <a:ext cx="3124036" cy="17906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6674" tIns="76196" rIns="106674" rtlCol="0" anchor="ctr"/>
          <a:lstStyle/>
          <a:p>
            <a:pPr algn="ctr">
              <a:defRPr sz="1300" b="1">
                <a:solidFill>
                  <a:srgbClr val="2E915C"/>
                </a:solidFill>
                <a:latin typeface="Noto Sans CJK SC"/>
              </a:defRPr>
            </a:pPr>
            <a:r>
              <a:rPr sz="1800"/>
              <a:t>与 Step 04 的边界</a:t>
            </a:r>
            <a:endParaRPr sz="18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Step 03：只负责检测与追踪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输出：human_detections.csv / human_tracks.csv</a:t>
            </a:r>
            <a:endParaRPr sz="1400"/>
          </a:p>
          <a:p>
            <a:pPr>
              <a:spcAft>
                <a:spcPts val="200"/>
              </a:spcAft>
              <a:defRPr sz="1050">
                <a:solidFill>
                  <a:srgbClr val="212930"/>
                </a:solidFill>
                <a:latin typeface="Noto Sans CJK SC"/>
              </a:defRPr>
            </a:pPr>
            <a:r>
              <a:rPr sz="1400"/>
              <a:t>Step 04：再做高低速分组、密度图与指标</a:t>
            </a:r>
            <a:endParaRPr sz="1400"/>
          </a:p>
        </p:txBody>
      </p:sp>
      <p:sp>
        <p:nvSpPr>
          <p:cNvPr id="20" name="Rounded Rectangle 19"/>
          <p:cNvSpPr/>
          <p:nvPr/>
        </p:nvSpPr>
        <p:spPr>
          <a:xfrm>
            <a:off x="647666" y="4838627"/>
            <a:ext cx="10896032" cy="800058"/>
          </a:xfrm>
          <a:prstGeom prst="roundRect">
            <a:avLst/>
          </a:prstGeom>
          <a:solidFill>
            <a:srgbClr val="EEF6F6"/>
          </a:solidFill>
          <a:ln>
            <a:solidFill>
              <a:srgbClr val="A4D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52" tIns="114294" rtlCol="0" anchor="ctr"/>
          <a:lstStyle/>
          <a:p>
            <a:pPr algn="ctr">
              <a:defRPr sz="1500" b="1">
                <a:solidFill>
                  <a:srgbClr val="212930"/>
                </a:solidFill>
                <a:latin typeface="Noto Sans CJK SC"/>
              </a:defRPr>
            </a:pPr>
            <a:r>
              <a:rPr sz="1250"/>
              <a:t>检测只是“在哪一帧哪里像微泡”，追踪才是“同一个微泡在连续帧中怎么运动”。匈牙利算法通过相邻帧全局最小代价匹配，把离散红圈连接成可计算速度和密度的轨迹。</a:t>
            </a:r>
            <a:endParaRPr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289670" y="812307"/>
            <a:ext cx="9562602" cy="655286"/>
          </a:xfrm>
          <a:prstGeom prst="roundRect">
            <a:avLst/>
          </a:prstGeom>
          <a:solidFill>
            <a:srgbClr val="E6F0FF"/>
          </a:solidFill>
          <a:ln>
            <a:solidFill>
              <a:srgbClr val="A4C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52" tIns="76196" rIns="91435" bIns="0" rtlCol="0" anchor="ctr"/>
          <a:lstStyle/>
          <a:p>
            <a:pPr algn="ctr">
              <a:spcAft>
                <a:spcPts val="200"/>
              </a:spcAft>
            </a:pPr>
            <a:r>
              <a:rPr sz="1185" b="1">
                <a:solidFill>
                  <a:srgbClr val="1C314E"/>
                </a:solidFill>
                <a:latin typeface="Noto Sans CJK SC"/>
              </a:rPr>
              <a:t>分析对象：600帧（20 s @ 30 Hz）</a:t>
            </a:r>
            <a:r>
              <a:rPr sz="1185" b="0">
                <a:solidFill>
                  <a:srgbClr val="1C314E"/>
                </a:solidFill>
                <a:latin typeface="Noto Sans CJK SC"/>
              </a:rPr>
              <a:t>，ROI = </a:t>
            </a:r>
            <a:r>
              <a:rPr sz="1185" b="1">
                <a:solidFill>
                  <a:srgbClr val="1C314E"/>
                </a:solidFill>
                <a:latin typeface="Noto Sans CJK SC"/>
              </a:rPr>
              <a:t>602 × 590 px</a:t>
            </a:r>
            <a:r>
              <a:rPr sz="1185" b="0">
                <a:solidFill>
                  <a:srgbClr val="1C314E"/>
                </a:solidFill>
                <a:latin typeface="Noto Sans CJK SC"/>
              </a:rPr>
              <a:t>，物理像素尺寸 = </a:t>
            </a:r>
            <a:r>
              <a:rPr sz="1185" b="1">
                <a:solidFill>
                  <a:srgbClr val="1C314E"/>
                </a:solidFill>
                <a:latin typeface="Noto Sans CJK SC"/>
              </a:rPr>
              <a:t>0.0063787 / px</a:t>
            </a:r>
            <a:endParaRPr sz="1185" b="1">
              <a:solidFill>
                <a:srgbClr val="1C314E"/>
              </a:solidFill>
              <a:latin typeface="Noto Sans CJK SC"/>
            </a:endParaRPr>
          </a:p>
          <a:p>
            <a:pPr>
              <a:spcAft>
                <a:spcPts val="200"/>
              </a:spcAft>
            </a:pPr>
            <a:r>
              <a:rPr sz="1185" b="1">
                <a:solidFill>
                  <a:srgbClr val="1C314E"/>
                </a:solidFill>
                <a:latin typeface="Noto Sans CJK SC"/>
              </a:rPr>
              <a:t>候选微泡量：</a:t>
            </a:r>
            <a:r>
              <a:rPr sz="1185" b="1">
                <a:solidFill>
                  <a:srgbClr val="C00000"/>
                </a:solidFill>
                <a:latin typeface="Noto Sans CJK SC"/>
              </a:rPr>
              <a:t>检测点总数 463,375</a:t>
            </a:r>
            <a:r>
              <a:rPr sz="1185" b="0">
                <a:solidFill>
                  <a:srgbClr val="1C314E"/>
                </a:solidFill>
                <a:latin typeface="Noto Sans CJK SC"/>
              </a:rPr>
              <a:t>；平均 </a:t>
            </a:r>
            <a:r>
              <a:rPr sz="1185" b="1">
                <a:solidFill>
                  <a:srgbClr val="C00000"/>
                </a:solidFill>
                <a:latin typeface="Noto Sans CJK SC"/>
              </a:rPr>
              <a:t>772.3 / 帧</a:t>
            </a:r>
            <a:r>
              <a:rPr sz="1185" b="0">
                <a:solidFill>
                  <a:srgbClr val="1C314E"/>
                </a:solidFill>
                <a:latin typeface="Noto Sans CJK SC"/>
              </a:rPr>
              <a:t>（中位 784.5，范围 442–952）</a:t>
            </a:r>
            <a:endParaRPr sz="1185" b="0">
              <a:solidFill>
                <a:srgbClr val="1C314E"/>
              </a:solidFill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89670" y="1809213"/>
            <a:ext cx="3093558" cy="3520257"/>
          </a:xfrm>
          <a:prstGeom prst="roundRect">
            <a:avLst/>
          </a:prstGeom>
          <a:solidFill>
            <a:srgbClr val="FFFFFF"/>
          </a:solidFill>
          <a:ln>
            <a:solidFill>
              <a:srgbClr val="C8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1411584" y="1931127"/>
            <a:ext cx="899113" cy="259067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200"/>
              <a:t>检测点</a:t>
            </a:r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1457301" y="2274009"/>
            <a:ext cx="2758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Noto Sans CJK SC"/>
              </a:rPr>
              <a:t>463,375</a:t>
            </a:r>
            <a:r>
              <a:rPr sz="1600" b="1">
                <a:solidFill>
                  <a:srgbClr val="1C314E"/>
                </a:solidFill>
                <a:latin typeface="Noto Sans CJK SC"/>
              </a:rPr>
              <a:t> 个候选微泡点</a:t>
            </a:r>
            <a:endParaRPr sz="1600" b="1">
              <a:solidFill>
                <a:srgbClr val="1C314E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57301" y="2784523"/>
            <a:ext cx="2758295" cy="9143"/>
          </a:xfrm>
          <a:prstGeom prst="rect">
            <a:avLst/>
          </a:prstGeom>
          <a:solidFill>
            <a:srgbClr val="E1E6EE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1480160" y="2860719"/>
            <a:ext cx="2712578" cy="1844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5B9BD5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human_detections.csv 记录每帧候选微泡的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位置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 与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正向响应强度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5B9BD5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每帧均值 </a:t>
            </a:r>
            <a:r>
              <a:rPr sz="1200" b="1">
                <a:solidFill>
                  <a:srgbClr val="C00000"/>
                </a:solidFill>
                <a:latin typeface="Noto Sans CJK SC"/>
              </a:rPr>
              <a:t>772.3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，中位 </a:t>
            </a:r>
            <a:r>
              <a:rPr sz="1200" b="1">
                <a:solidFill>
                  <a:srgbClr val="C00000"/>
                </a:solidFill>
                <a:latin typeface="Noto Sans CJK SC"/>
              </a:rPr>
              <a:t>784.5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，范围 </a:t>
            </a:r>
            <a:r>
              <a:rPr sz="1200" b="1">
                <a:solidFill>
                  <a:srgbClr val="C00000"/>
                </a:solidFill>
                <a:latin typeface="Noto Sans CJK SC"/>
              </a:rPr>
              <a:t>442–952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5B9BD5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强度：均值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0.1445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；P95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0.2551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；P99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0.3349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；最大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0.6435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5B9BD5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intensity 是算法响应，不等同于真实微泡浓度或血流速度；“微泡量”宜用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检测点数量与空间分布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 描述。</a:t>
            </a:r>
            <a:endParaRPr sz="1200" b="0">
              <a:solidFill>
                <a:srgbClr val="262626"/>
              </a:solidFill>
              <a:latin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0381" y="1809213"/>
            <a:ext cx="3093558" cy="3520257"/>
          </a:xfrm>
          <a:prstGeom prst="roundRect">
            <a:avLst/>
          </a:prstGeom>
          <a:solidFill>
            <a:srgbClr val="FFFFFF"/>
          </a:solidFill>
          <a:ln>
            <a:solidFill>
              <a:srgbClr val="C8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4642294" y="1931127"/>
            <a:ext cx="899113" cy="259067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200"/>
              <a:t>轨迹</a:t>
            </a:r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4688012" y="2274009"/>
            <a:ext cx="2758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7800"/>
                </a:solidFill>
                <a:latin typeface="Noto Sans CJK SC"/>
              </a:rPr>
              <a:t>22,449</a:t>
            </a:r>
            <a:r>
              <a:rPr sz="1600" b="1">
                <a:solidFill>
                  <a:srgbClr val="1C314E"/>
                </a:solidFill>
                <a:latin typeface="Noto Sans CJK SC"/>
              </a:rPr>
              <a:t> 条有效轨迹</a:t>
            </a:r>
            <a:endParaRPr sz="1600" b="1">
              <a:solidFill>
                <a:srgbClr val="1C314E"/>
              </a:solidFill>
              <a:latin typeface="Noto Sans CJK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8012" y="2784523"/>
            <a:ext cx="2758295" cy="9143"/>
          </a:xfrm>
          <a:prstGeom prst="rect">
            <a:avLst/>
          </a:prstGeom>
          <a:solidFill>
            <a:srgbClr val="E1E6EE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4710871" y="2860719"/>
            <a:ext cx="2712578" cy="2271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human_tracks.csv 将单帧检测点按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track_id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 跨帧连接，体现真正的追踪。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轨迹点总数 </a:t>
            </a:r>
            <a:r>
              <a:rPr sz="1200" b="1">
                <a:solidFill>
                  <a:srgbClr val="007800"/>
                </a:solidFill>
                <a:latin typeface="Noto Sans CJK SC"/>
              </a:rPr>
              <a:t>434,806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；平均长度 </a:t>
            </a:r>
            <a:r>
              <a:rPr sz="1200" b="1">
                <a:solidFill>
                  <a:srgbClr val="007800"/>
                </a:solidFill>
                <a:latin typeface="Noto Sans CJK SC"/>
              </a:rPr>
              <a:t>19.37 帧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；中位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13 帧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持续时间：平均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0.725 s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；中位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0.500 s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；最长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7.60 s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路径长度/净位移中位数约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3.31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，提示部分轨迹弯曲，也可能受定位噪声或误连接影响。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70AD47"/>
                </a:solidFill>
                <a:latin typeface="Noto Sans CJK SC"/>
              </a:rPr>
              <a:t>• </a:t>
            </a:r>
            <a:r>
              <a:rPr sz="1200" b="1">
                <a:solidFill>
                  <a:srgbClr val="1C314E"/>
                </a:solidFill>
                <a:latin typeface="Noto Sans CJK SC"/>
              </a:rPr>
              <a:t>这些轨迹是 Step 04 密度图重建和指标计算的直接输入。</a:t>
            </a:r>
            <a:endParaRPr sz="1200" b="1">
              <a:solidFill>
                <a:srgbClr val="1C314E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51093" y="1809213"/>
            <a:ext cx="3093558" cy="3520257"/>
          </a:xfrm>
          <a:prstGeom prst="roundRect">
            <a:avLst/>
          </a:prstGeom>
          <a:solidFill>
            <a:srgbClr val="FFFFFF"/>
          </a:solidFill>
          <a:ln>
            <a:solidFill>
              <a:srgbClr val="C8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873007" y="1931127"/>
            <a:ext cx="1234376" cy="259067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200"/>
              <a:t>速度与解释</a:t>
            </a:r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7918725" y="2274009"/>
            <a:ext cx="2758295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C55A11"/>
                </a:solidFill>
                <a:latin typeface="Noto Sans CJK SC"/>
              </a:rPr>
              <a:t>97.21%</a:t>
            </a:r>
            <a:r>
              <a:rPr sz="1600" b="1">
                <a:solidFill>
                  <a:srgbClr val="1C314E"/>
                </a:solidFill>
                <a:latin typeface="Noto Sans CJK SC"/>
              </a:rPr>
              <a:t> 低速轨迹</a:t>
            </a:r>
            <a:endParaRPr sz="1600" b="1">
              <a:solidFill>
                <a:srgbClr val="1C314E"/>
              </a:solidFill>
              <a:latin typeface="Noto Sans CJK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18725" y="2784523"/>
            <a:ext cx="2758295" cy="9143"/>
          </a:xfrm>
          <a:prstGeom prst="rect">
            <a:avLst/>
          </a:prstGeom>
          <a:solidFill>
            <a:srgbClr val="E1E6EE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7941583" y="2860719"/>
            <a:ext cx="2712578" cy="2032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ED7D31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非零逐点速度：均值 </a:t>
            </a:r>
            <a:r>
              <a:rPr sz="1200" b="1">
                <a:solidFill>
                  <a:srgbClr val="C55A11"/>
                </a:solidFill>
                <a:latin typeface="Noto Sans CJK SC"/>
              </a:rPr>
              <a:t>0.724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；中位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0.486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；P95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1.970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；最大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2.296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ED7D31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若 metadata 单位为 mm，则速度单位近似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mm/s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ED7D31"/>
                </a:solidFill>
                <a:latin typeface="Noto Sans CJK SC"/>
              </a:rPr>
              <a:t>• 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按 SPEED_THRESHOLD = </a:t>
            </a:r>
            <a:r>
              <a:rPr sz="1200" b="1">
                <a:solidFill>
                  <a:srgbClr val="262626"/>
                </a:solidFill>
                <a:latin typeface="Noto Sans CJK SC"/>
              </a:rPr>
              <a:t>1.0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 分组：低速 </a:t>
            </a:r>
            <a:r>
              <a:rPr sz="1200" b="1">
                <a:solidFill>
                  <a:srgbClr val="C55A11"/>
                </a:solidFill>
                <a:latin typeface="Noto Sans CJK SC"/>
              </a:rPr>
              <a:t>21,822 条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（</a:t>
            </a:r>
            <a:r>
              <a:rPr sz="1200" b="1">
                <a:solidFill>
                  <a:srgbClr val="C55A11"/>
                </a:solidFill>
                <a:latin typeface="Noto Sans CJK SC"/>
              </a:rPr>
              <a:t>97.21%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），高速 </a:t>
            </a:r>
            <a:r>
              <a:rPr sz="1200" b="1">
                <a:solidFill>
                  <a:srgbClr val="C55A11"/>
                </a:solidFill>
                <a:latin typeface="Noto Sans CJK SC"/>
              </a:rPr>
              <a:t>627 条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（2.79%）。</a:t>
            </a:r>
            <a:endParaRPr sz="1200" b="0">
              <a:solidFill>
                <a:srgbClr val="262626"/>
              </a:solidFill>
              <a:latin typeface="Noto Sans CJK SC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200" b="1">
                <a:solidFill>
                  <a:srgbClr val="ED7D31"/>
                </a:solidFill>
                <a:latin typeface="Noto Sans CJK SC"/>
              </a:rPr>
              <a:t>• </a:t>
            </a:r>
            <a:r>
              <a:rPr sz="1200" b="1">
                <a:solidFill>
                  <a:srgbClr val="1C314E"/>
                </a:solidFill>
                <a:latin typeface="Noto Sans CJK SC"/>
              </a:rPr>
              <a:t>可支持：</a:t>
            </a:r>
            <a:r>
              <a:rPr sz="1200" b="0">
                <a:solidFill>
                  <a:srgbClr val="262626"/>
                </a:solidFill>
                <a:latin typeface="Noto Sans CJK SC"/>
              </a:rPr>
              <a:t>微泡空间分布、局部灌注活跃度、速度分布、轨迹滞留时间和运动幅度。</a:t>
            </a:r>
            <a:endParaRPr sz="1200" b="0">
              <a:solidFill>
                <a:srgbClr val="262626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289670" y="5736498"/>
            <a:ext cx="9562602" cy="365741"/>
          </a:xfrm>
          <a:prstGeom prst="roundRect">
            <a:avLst/>
          </a:prstGeom>
          <a:solidFill>
            <a:srgbClr val="FFF7E6"/>
          </a:solidFill>
          <a:ln>
            <a:solidFill>
              <a:srgbClr val="E6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6674" tIns="53337" rIns="60956" bIns="0" rtlCol="0" anchor="ctr"/>
          <a:lstStyle/>
          <a:p>
            <a:pPr algn="ctr"/>
            <a:r>
              <a:rPr sz="1085" b="1">
                <a:solidFill>
                  <a:srgbClr val="895200"/>
                </a:solidFill>
                <a:latin typeface="Noto Sans CJK SC"/>
              </a:rPr>
              <a:t>结论：</a:t>
            </a:r>
            <a:r>
              <a:rPr sz="1085" b="0">
                <a:solidFill>
                  <a:srgbClr val="895200"/>
                </a:solidFill>
                <a:latin typeface="Noto Sans CJK SC"/>
              </a:rPr>
              <a:t>Step 03 的 CSV 用于量化 </a:t>
            </a:r>
            <a:r>
              <a:rPr sz="1085" b="1">
                <a:solidFill>
                  <a:srgbClr val="895200"/>
                </a:solidFill>
                <a:latin typeface="Noto Sans CJK SC"/>
              </a:rPr>
              <a:t>候选微泡量、轨迹数量、速度分布和灌注形态</a:t>
            </a:r>
            <a:r>
              <a:rPr sz="1085" b="0">
                <a:solidFill>
                  <a:srgbClr val="895200"/>
                </a:solidFill>
                <a:latin typeface="Noto Sans CJK SC"/>
              </a:rPr>
              <a:t>，是 </a:t>
            </a:r>
            <a:r>
              <a:rPr sz="1085" b="1">
                <a:solidFill>
                  <a:srgbClr val="895200"/>
                </a:solidFill>
                <a:latin typeface="Noto Sans CJK SC"/>
              </a:rPr>
              <a:t>Step 04 密度图与指标计算</a:t>
            </a:r>
            <a:r>
              <a:rPr sz="1085" b="0">
                <a:solidFill>
                  <a:srgbClr val="895200"/>
                </a:solidFill>
                <a:latin typeface="Noto Sans CJK SC"/>
              </a:rPr>
              <a:t> 的基础，而不是直接临床诊断。</a:t>
            </a:r>
            <a:endParaRPr sz="1085" b="0">
              <a:solidFill>
                <a:srgbClr val="895200"/>
              </a:solidFill>
              <a:latin typeface="Noto Sans CJK SC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342900" y="190500"/>
            <a:ext cx="6179820" cy="4229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600" b="1">
                <a:solidFill>
                  <a:srgbClr val="212930"/>
                </a:solidFill>
                <a:latin typeface="Noto Sans CJK SC"/>
              </a:defRPr>
            </a:pPr>
            <a:r>
              <a:rPr sz="2165">
                <a:sym typeface="+mn-ea"/>
              </a:rPr>
              <a:t>Step 03｜</a:t>
            </a:r>
            <a:r>
              <a:rPr lang="zh-CN" sz="2165">
                <a:sym typeface="+mn-ea"/>
              </a:rPr>
              <a:t>统计结果</a:t>
            </a:r>
            <a:r>
              <a:rPr lang="zh-CN" sz="2165">
                <a:sym typeface="+mn-ea"/>
              </a:rPr>
              <a:t>解释</a:t>
            </a:r>
            <a:endParaRPr lang="zh-CN" sz="2165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01168"/>
            <a:ext cx="1298448" cy="493776"/>
          </a:xfrm>
          <a:prstGeom prst="round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Step 04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7088" y="173736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B41"/>
                </a:solidFill>
                <a:latin typeface="微软雅黑"/>
              </a:rPr>
              <a:t>速度分组、密度图重建与指标统计</a:t>
            </a:r>
            <a:endParaRPr sz="250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72" y="786384"/>
            <a:ext cx="685800" cy="27432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2029968" cy="749808"/>
          </a:xfrm>
          <a:prstGeom prst="roundRect">
            <a:avLst/>
          </a:prstGeom>
          <a:solidFill>
            <a:srgbClr val="EDF4FF"/>
          </a:solidFill>
          <a:ln>
            <a:solidFill>
              <a:srgbClr val="BA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73152" rtlCol="0" anchor="ctr"/>
          <a:lstStyle/>
          <a:p>
            <a:pPr algn="ctr"/>
            <a:r>
              <a:rPr sz="1500" b="1">
                <a:solidFill>
                  <a:srgbClr val="1C2B41"/>
                </a:solidFill>
                <a:latin typeface="微软雅黑"/>
              </a:rPr>
              <a:t>Step 00
预处理</a:t>
            </a:r>
            <a:endParaRPr sz="1500" b="1">
              <a:solidFill>
                <a:srgbClr val="1C2B41"/>
              </a:solidFill>
              <a:latin typeface="微软雅黑"/>
            </a:endParaRPr>
          </a:p>
          <a:p>
            <a:pPr algn="ctr"/>
            <a:r>
              <a:rPr sz="1050">
                <a:solidFill>
                  <a:srgbClr val="586370"/>
                </a:solidFill>
                <a:latin typeface="微软雅黑"/>
              </a:rPr>
              <a:t>frames/meta</a:t>
            </a:r>
            <a:endParaRPr sz="1050">
              <a:solidFill>
                <a:srgbClr val="586370"/>
              </a:solidFill>
              <a:latin typeface="微软雅黑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679192" y="1353312"/>
            <a:ext cx="292608" cy="219456"/>
          </a:xfrm>
          <a:prstGeom prst="rightArrow">
            <a:avLst/>
          </a:prstGeom>
          <a:solidFill>
            <a:srgbClr val="AAB4C3"/>
          </a:solidFill>
          <a:ln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143000"/>
            <a:ext cx="2029968" cy="749808"/>
          </a:xfrm>
          <a:prstGeom prst="roundRect">
            <a:avLst/>
          </a:prstGeom>
          <a:solidFill>
            <a:srgbClr val="EDF4FF"/>
          </a:solidFill>
          <a:ln>
            <a:solidFill>
              <a:srgbClr val="BA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73152" rtlCol="0" anchor="ctr"/>
          <a:lstStyle/>
          <a:p>
            <a:pPr algn="ctr"/>
            <a:r>
              <a:rPr sz="1500" b="1">
                <a:solidFill>
                  <a:srgbClr val="1C2B41"/>
                </a:solidFill>
                <a:latin typeface="微软雅黑"/>
              </a:rPr>
              <a:t>Step 01
带通滤波</a:t>
            </a:r>
            <a:endParaRPr sz="1500" b="1">
              <a:solidFill>
                <a:srgbClr val="1C2B41"/>
              </a:solidFill>
              <a:latin typeface="微软雅黑"/>
            </a:endParaRPr>
          </a:p>
          <a:p>
            <a:pPr algn="ctr"/>
            <a:r>
              <a:rPr sz="1050">
                <a:solidFill>
                  <a:srgbClr val="586370"/>
                </a:solidFill>
                <a:latin typeface="微软雅黑"/>
              </a:rPr>
              <a:t>filtered.npy</a:t>
            </a:r>
            <a:endParaRPr sz="1050">
              <a:solidFill>
                <a:srgbClr val="586370"/>
              </a:solidFill>
              <a:latin typeface="微软雅黑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873752" y="1353312"/>
            <a:ext cx="292608" cy="219456"/>
          </a:xfrm>
          <a:prstGeom prst="rightArrow">
            <a:avLst/>
          </a:prstGeom>
          <a:solidFill>
            <a:srgbClr val="AAB4C3"/>
          </a:solidFill>
          <a:ln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2029968" cy="749808"/>
          </a:xfrm>
          <a:prstGeom prst="roundRect">
            <a:avLst/>
          </a:prstGeom>
          <a:solidFill>
            <a:srgbClr val="EDF4FF"/>
          </a:solidFill>
          <a:ln>
            <a:solidFill>
              <a:srgbClr val="BA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73152" rtlCol="0" anchor="ctr"/>
          <a:lstStyle/>
          <a:p>
            <a:pPr algn="ctr"/>
            <a:r>
              <a:rPr sz="1500" b="1">
                <a:solidFill>
                  <a:srgbClr val="1C2B41"/>
                </a:solidFill>
                <a:latin typeface="微软雅黑"/>
              </a:rPr>
              <a:t>Step 02
高斯平滑</a:t>
            </a:r>
            <a:endParaRPr sz="1500" b="1">
              <a:solidFill>
                <a:srgbClr val="1C2B41"/>
              </a:solidFill>
              <a:latin typeface="微软雅黑"/>
            </a:endParaRPr>
          </a:p>
          <a:p>
            <a:pPr algn="ctr"/>
            <a:r>
              <a:rPr sz="1050">
                <a:solidFill>
                  <a:srgbClr val="586370"/>
                </a:solidFill>
                <a:latin typeface="微软雅黑"/>
              </a:rPr>
              <a:t>smoothed.npy</a:t>
            </a:r>
            <a:endParaRPr sz="1050">
              <a:solidFill>
                <a:srgbClr val="586370"/>
              </a:solidFill>
              <a:latin typeface="微软雅黑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68312" y="1353312"/>
            <a:ext cx="292608" cy="219456"/>
          </a:xfrm>
          <a:prstGeom prst="rightArrow">
            <a:avLst/>
          </a:prstGeom>
          <a:solidFill>
            <a:srgbClr val="AAB4C3"/>
          </a:solidFill>
          <a:ln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1143000"/>
            <a:ext cx="2029968" cy="749808"/>
          </a:xfrm>
          <a:prstGeom prst="roundRect">
            <a:avLst/>
          </a:prstGeom>
          <a:solidFill>
            <a:srgbClr val="EDF4FF"/>
          </a:solidFill>
          <a:ln>
            <a:solidFill>
              <a:srgbClr val="BA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73152" rtlCol="0" anchor="ctr"/>
          <a:lstStyle/>
          <a:p>
            <a:pPr algn="ctr"/>
            <a:r>
              <a:rPr sz="1500" b="1">
                <a:solidFill>
                  <a:srgbClr val="1C2B41"/>
                </a:solidFill>
                <a:latin typeface="微软雅黑"/>
              </a:rPr>
              <a:t>Step 03
检测+追踪</a:t>
            </a:r>
            <a:endParaRPr sz="1500" b="1">
              <a:solidFill>
                <a:srgbClr val="1C2B41"/>
              </a:solidFill>
              <a:latin typeface="微软雅黑"/>
            </a:endParaRPr>
          </a:p>
          <a:p>
            <a:pPr algn="ctr"/>
            <a:r>
              <a:rPr sz="1050">
                <a:solidFill>
                  <a:srgbClr val="586370"/>
                </a:solidFill>
                <a:latin typeface="微软雅黑"/>
              </a:rPr>
              <a:t>tracks.csv</a:t>
            </a:r>
            <a:endParaRPr sz="1050">
              <a:solidFill>
                <a:srgbClr val="586370"/>
              </a:solidFill>
              <a:latin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262872" y="1353312"/>
            <a:ext cx="292608" cy="219456"/>
          </a:xfrm>
          <a:prstGeom prst="rightArrow">
            <a:avLst/>
          </a:prstGeom>
          <a:solidFill>
            <a:srgbClr val="AAB4C3"/>
          </a:solidFill>
          <a:ln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1143000"/>
            <a:ext cx="2029968" cy="749808"/>
          </a:xfrm>
          <a:prstGeom prst="roundRect">
            <a:avLst/>
          </a:prstGeom>
          <a:solidFill>
            <a:srgbClr val="DFF7F7"/>
          </a:solidFill>
          <a:ln>
            <a:solidFill>
              <a:srgbClr val="BA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73152" rtlCol="0" anchor="ctr"/>
          <a:lstStyle/>
          <a:p>
            <a:pPr algn="ctr"/>
            <a:r>
              <a:rPr sz="1500" b="1">
                <a:solidFill>
                  <a:srgbClr val="196266"/>
                </a:solidFill>
                <a:latin typeface="微软雅黑"/>
              </a:rPr>
              <a:t>Step 04
分组+密度+指标</a:t>
            </a:r>
            <a:endParaRPr sz="1500" b="1">
              <a:solidFill>
                <a:srgbClr val="196266"/>
              </a:solidFill>
              <a:latin typeface="微软雅黑"/>
            </a:endParaRPr>
          </a:p>
          <a:p>
            <a:pPr algn="ctr"/>
            <a:r>
              <a:rPr sz="1050">
                <a:solidFill>
                  <a:srgbClr val="586370"/>
                </a:solidFill>
                <a:latin typeface="微软雅黑"/>
              </a:rPr>
              <a:t>PNG/CSV/TXT</a:t>
            </a:r>
            <a:endParaRPr sz="1050">
              <a:solidFill>
                <a:srgbClr val="586370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148840"/>
            <a:ext cx="5440680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2331720"/>
            <a:ext cx="1207008" cy="292608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输入与输出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" y="2761488"/>
            <a:ext cx="4983480" cy="2651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550">
                <a:solidFill>
                  <a:srgbClr val="262C38"/>
                </a:solidFill>
                <a:latin typeface="微软雅黑"/>
              </a:rPr>
              <a:t>• </a:t>
            </a:r>
            <a:r>
              <a:rPr sz="1550" b="1">
                <a:solidFill>
                  <a:srgbClr val="262C38"/>
                </a:solidFill>
                <a:latin typeface="微软雅黑"/>
              </a:rPr>
              <a:t>输入：</a:t>
            </a:r>
            <a:r>
              <a:rPr sz="1550" b="0">
                <a:solidFill>
                  <a:srgbClr val="262C38"/>
                </a:solidFill>
                <a:latin typeface="微软雅黑"/>
              </a:rPr>
              <a:t>Step 03 已追踪好的 human_tracks.csv；不再重新检测或匹配。</a:t>
            </a:r>
            <a:endParaRPr sz="155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262C38"/>
                </a:solidFill>
                <a:latin typeface="微软雅黑"/>
              </a:rPr>
              <a:t>• </a:t>
            </a:r>
            <a:r>
              <a:rPr sz="1550" b="1">
                <a:solidFill>
                  <a:srgbClr val="262C38"/>
                </a:solidFill>
                <a:latin typeface="微软雅黑"/>
              </a:rPr>
              <a:t>核心任务：</a:t>
            </a:r>
            <a:r>
              <a:rPr sz="1550" b="0">
                <a:solidFill>
                  <a:srgbClr val="262C38"/>
                </a:solidFill>
                <a:latin typeface="微软雅黑"/>
              </a:rPr>
              <a:t>按轨迹平均速度分组 → 轨迹点累计 → 生成密度图 → 计算轨迹指标。</a:t>
            </a:r>
            <a:endParaRPr sz="155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262C38"/>
                </a:solidFill>
                <a:latin typeface="微软雅黑"/>
              </a:rPr>
              <a:t>• </a:t>
            </a:r>
            <a:r>
              <a:rPr sz="1550" b="1">
                <a:solidFill>
                  <a:srgbClr val="262C38"/>
                </a:solidFill>
                <a:latin typeface="微软雅黑"/>
              </a:rPr>
              <a:t>输出：</a:t>
            </a:r>
            <a:r>
              <a:rPr sz="1550" b="0">
                <a:solidFill>
                  <a:srgbClr val="262C38"/>
                </a:solidFill>
                <a:latin typeface="微软雅黑"/>
              </a:rPr>
              <a:t>低/高速 tracks.csv、density PNG、metrics.csv、summary.txt。</a:t>
            </a:r>
            <a:endParaRPr sz="155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550">
                <a:solidFill>
                  <a:srgbClr val="262C38"/>
                </a:solidFill>
                <a:latin typeface="微软雅黑"/>
              </a:rPr>
              <a:t>• </a:t>
            </a:r>
            <a:r>
              <a:rPr sz="1550" b="1">
                <a:solidFill>
                  <a:srgbClr val="262C38"/>
                </a:solidFill>
                <a:latin typeface="微软雅黑"/>
              </a:rPr>
              <a:t>定位：</a:t>
            </a:r>
            <a:r>
              <a:rPr sz="1550" b="0">
                <a:solidFill>
                  <a:srgbClr val="262C38"/>
                </a:solidFill>
                <a:latin typeface="微软雅黑"/>
              </a:rPr>
              <a:t>Step 04 是对 Step 03 轨迹的量化总结，而不是新的微泡检测步骤。</a:t>
            </a:r>
            <a:endParaRPr sz="15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2148840"/>
            <a:ext cx="5303520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2331720"/>
            <a:ext cx="1024128" cy="292608"/>
          </a:xfrm>
          <a:prstGeom prst="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样例参数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92240" y="2788920"/>
            <a:ext cx="146304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样例帧数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3A69B4"/>
                </a:solidFill>
                <a:latin typeface="微软雅黑"/>
              </a:rPr>
              <a:t>600 帧</a:t>
            </a:r>
            <a:endParaRPr sz="20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38160" y="2788920"/>
            <a:ext cx="146304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帧率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3A69B4"/>
                </a:solidFill>
                <a:latin typeface="微软雅黑"/>
              </a:rPr>
              <a:t>30 Hz</a:t>
            </a:r>
            <a:endParaRPr sz="20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784080" y="2788920"/>
            <a:ext cx="1536192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ROI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1800" b="1">
                <a:solidFill>
                  <a:srgbClr val="3A69B4"/>
                </a:solidFill>
                <a:latin typeface="微软雅黑"/>
              </a:rPr>
              <a:t>602×590 px</a:t>
            </a:r>
            <a:endParaRPr sz="18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92240" y="3703320"/>
            <a:ext cx="1874519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像素尺寸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1800" b="1">
                <a:solidFill>
                  <a:srgbClr val="3A69B4"/>
                </a:solidFill>
                <a:latin typeface="微软雅黑"/>
              </a:rPr>
              <a:t>0.0063787 / px</a:t>
            </a:r>
            <a:endParaRPr sz="18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549640" y="3703320"/>
            <a:ext cx="132588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超分倍数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8ECCCC"/>
                </a:solidFill>
                <a:latin typeface="微软雅黑"/>
              </a:rPr>
              <a:t>4×</a:t>
            </a:r>
            <a:endParaRPr sz="2000" b="1">
              <a:solidFill>
                <a:srgbClr val="8ECCCC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921240" y="3703320"/>
            <a:ext cx="155448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输出尺寸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1800" b="1">
                <a:solidFill>
                  <a:srgbClr val="8ECCCC"/>
                </a:solidFill>
                <a:latin typeface="微软雅黑"/>
              </a:rPr>
              <a:t>2408×2360</a:t>
            </a:r>
            <a:endParaRPr sz="1800" b="1">
              <a:solidFill>
                <a:srgbClr val="8ECCCC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461772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380">
                <a:solidFill>
                  <a:srgbClr val="262C38"/>
                </a:solidFill>
                <a:latin typeface="微软雅黑"/>
              </a:rPr>
              <a:t>• 超分辨率网格通过 x_super=round(x_pixel×4)、y_super=round(y_pixel×4) 累计轨迹点。</a:t>
            </a:r>
            <a:endParaRPr sz="138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380">
                <a:solidFill>
                  <a:srgbClr val="262C38"/>
                </a:solidFill>
                <a:latin typeface="微软雅黑"/>
              </a:rPr>
              <a:t>• 密度图越亮，代表该区域被微泡轨迹点经过的次数越多。</a:t>
            </a:r>
            <a:endParaRPr sz="1380">
              <a:solidFill>
                <a:srgbClr val="262C3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01168"/>
            <a:ext cx="1298448" cy="493776"/>
          </a:xfrm>
          <a:prstGeom prst="round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Step 04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7088" y="173736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B41"/>
                </a:solidFill>
                <a:latin typeface="微软雅黑"/>
              </a:rPr>
              <a:t>速度分组逻辑：由轨迹平均速度决定</a:t>
            </a:r>
            <a:endParaRPr sz="250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72" y="786384"/>
            <a:ext cx="685800" cy="27432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70332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143000"/>
            <a:ext cx="1097280" cy="292608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速度计算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246120" cy="11887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520" b="1">
                <a:solidFill>
                  <a:srgbClr val="262C38"/>
                </a:solidFill>
                <a:latin typeface="微软雅黑"/>
              </a:rPr>
              <a:t>逐点速度：</a:t>
            </a:r>
            <a:r>
              <a:rPr sz="1520" b="0">
                <a:solidFill>
                  <a:srgbClr val="145AA0"/>
                </a:solidFill>
                <a:latin typeface="微软雅黑"/>
              </a:rPr>
              <a:t> velocity = √(dx²+dy²) / dt</a:t>
            </a:r>
            <a:endParaRPr sz="1520" b="0">
              <a:solidFill>
                <a:srgbClr val="145AA0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520" b="1">
                <a:solidFill>
                  <a:srgbClr val="262C38"/>
                </a:solidFill>
                <a:latin typeface="微软雅黑"/>
              </a:rPr>
              <a:t>时间间隔：</a:t>
            </a:r>
            <a:r>
              <a:rPr sz="1520" b="0">
                <a:solidFill>
                  <a:srgbClr val="262C38"/>
                </a:solidFill>
                <a:latin typeface="微软雅黑"/>
              </a:rPr>
              <a:t>dt = t₁ - t₀；相邻帧约 1/30 = 0.0333 s</a:t>
            </a:r>
            <a:endParaRPr sz="152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246120" cy="19659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460">
                <a:solidFill>
                  <a:srgbClr val="262C38"/>
                </a:solidFill>
                <a:latin typeface="微软雅黑"/>
              </a:rPr>
              <a:t>• dx、dy 使用 x_physical / y_physical，因此速度不是像素距离，而是物理位移 / 时间。</a:t>
            </a:r>
            <a:endParaRPr sz="146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60">
                <a:solidFill>
                  <a:srgbClr val="262C38"/>
                </a:solidFill>
                <a:latin typeface="微软雅黑"/>
              </a:rPr>
              <a:t>• 若两点之间跨过缺失帧，dt 会随实际 frame_id 间隔变大。</a:t>
            </a:r>
            <a:endParaRPr sz="146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60">
                <a:solidFill>
                  <a:srgbClr val="262C38"/>
                </a:solidFill>
                <a:latin typeface="微软雅黑"/>
              </a:rPr>
              <a:t>• 每条轨迹第一个点没有前一帧，velocity 通常为 0；分组时排除第一个点。</a:t>
            </a:r>
            <a:endParaRPr sz="146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960120"/>
            <a:ext cx="3017520" cy="5394960"/>
          </a:xfrm>
          <a:prstGeom prst="roundRect">
            <a:avLst/>
          </a:prstGeom>
          <a:solidFill>
            <a:srgbClr val="FAFC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90872" y="1143000"/>
            <a:ext cx="1097280" cy="292608"/>
          </a:xfrm>
          <a:prstGeom prst="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分组规则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92040" y="3063240"/>
            <a:ext cx="2304288" cy="73152"/>
          </a:xfrm>
          <a:prstGeom prst="rect">
            <a:avLst/>
          </a:prstGeom>
          <a:solidFill>
            <a:srgbClr val="A0AAB4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37176" y="2971800"/>
            <a:ext cx="228600" cy="228600"/>
          </a:xfrm>
          <a:prstGeom prst="ellipse">
            <a:avLst/>
          </a:prstGeom>
          <a:solidFill>
            <a:srgbClr val="D200D2"/>
          </a:solidFill>
          <a:ln>
            <a:solidFill>
              <a:srgbClr val="D2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41464" y="2971800"/>
            <a:ext cx="228600" cy="228600"/>
          </a:xfrm>
          <a:prstGeom prst="ellipse">
            <a:avLst/>
          </a:prstGeom>
          <a:solidFill>
            <a:srgbClr val="00BE2D"/>
          </a:solidFill>
          <a:ln>
            <a:solidFill>
              <a:srgbClr val="00B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97880" y="2377440"/>
            <a:ext cx="384048" cy="548640"/>
          </a:xfrm>
          <a:prstGeom prst="downArrow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5028" y="1847088"/>
            <a:ext cx="283146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微软雅黑"/>
              </a:rPr>
              <a:t>SPEED_THRESHOLD = 1.0</a:t>
            </a:r>
            <a:endParaRPr sz="1600" b="1">
              <a:solidFill>
                <a:srgbClr val="E67E22"/>
              </a:solidFill>
              <a:latin typeface="微软雅黑"/>
            </a:endParaRPr>
          </a:p>
          <a:p>
            <a:pPr algn="ctr"/>
            <a:r>
              <a:rPr lang="en-US" altLang="zh-CN" sz="1600" b="1">
                <a:solidFill>
                  <a:srgbClr val="E67E22"/>
                </a:solidFill>
                <a:latin typeface="微软雅黑"/>
              </a:rPr>
              <a:t>(</a:t>
            </a:r>
            <a:r>
              <a:rPr lang="zh-CN" sz="1600" b="1">
                <a:solidFill>
                  <a:srgbClr val="E67E22"/>
                </a:solidFill>
                <a:latin typeface="微软雅黑"/>
              </a:rPr>
              <a:t>即</a:t>
            </a:r>
            <a:r>
              <a:rPr lang="en-US" altLang="zh-CN" sz="1600" b="1">
                <a:solidFill>
                  <a:srgbClr val="E67E22"/>
                </a:solidFill>
                <a:latin typeface="微软雅黑"/>
              </a:rPr>
              <a:t>1</a:t>
            </a:r>
            <a:r>
              <a:rPr lang="en-US" altLang="zh-CN" sz="1600" b="1">
                <a:solidFill>
                  <a:srgbClr val="E67E22"/>
                </a:solidFill>
                <a:latin typeface="微软雅黑"/>
              </a:rPr>
              <a:t>pixel/s)</a:t>
            </a:r>
            <a:endParaRPr lang="en-US" altLang="zh-CN" sz="1600" b="1">
              <a:solidFill>
                <a:srgbClr val="E67E22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3703320"/>
            <a:ext cx="2514600" cy="1508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D200D2"/>
                </a:solidFill>
                <a:latin typeface="微软雅黑"/>
              </a:rPr>
              <a:t>mean_velocity &lt; 1.0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 → low speed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00BE2D"/>
                </a:solidFill>
                <a:latin typeface="微软雅黑"/>
              </a:rPr>
              <a:t>mean_velocity ≥ 1.0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 → high speed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高/低速是当前阈值下的算法分组，不等同于已验证的动脉/静脉分类。</a:t>
            </a:r>
            <a:endParaRPr sz="142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960120"/>
            <a:ext cx="374903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1143000"/>
            <a:ext cx="1417320" cy="292608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当前样例结果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0" y="1627632"/>
            <a:ext cx="150876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总轨迹数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3A69B4"/>
                </a:solidFill>
                <a:latin typeface="微软雅黑"/>
              </a:rPr>
              <a:t>22,449</a:t>
            </a:r>
            <a:endParaRPr sz="20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921240" y="1627632"/>
            <a:ext cx="141732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总均速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3A69B4"/>
                </a:solidFill>
                <a:latin typeface="微软雅黑"/>
              </a:rPr>
              <a:t>0.6067</a:t>
            </a:r>
            <a:endParaRPr sz="2000" b="1">
              <a:solidFill>
                <a:srgbClr val="3A69B4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8160" y="2542032"/>
            <a:ext cx="150876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低速轨迹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D200D2"/>
                </a:solidFill>
                <a:latin typeface="微软雅黑"/>
              </a:rPr>
              <a:t>21,822</a:t>
            </a:r>
            <a:endParaRPr sz="200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921240" y="2542032"/>
            <a:ext cx="141732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低速占比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D200D2"/>
                </a:solidFill>
                <a:latin typeface="微软雅黑"/>
              </a:rPr>
              <a:t>97.21%</a:t>
            </a:r>
            <a:endParaRPr sz="200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38160" y="3456432"/>
            <a:ext cx="150876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高速轨迹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00BE2D"/>
                </a:solidFill>
                <a:latin typeface="微软雅黑"/>
              </a:rPr>
              <a:t>627</a:t>
            </a:r>
            <a:endParaRPr sz="200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921240" y="3456432"/>
            <a:ext cx="1417320" cy="658368"/>
          </a:xfrm>
          <a:prstGeom prst="roundRect">
            <a:avLst/>
          </a:prstGeom>
          <a:solidFill>
            <a:srgbClr val="F6F8FC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/>
            <a:r>
              <a:rPr sz="1080">
                <a:solidFill>
                  <a:srgbClr val="586370"/>
                </a:solidFill>
                <a:latin typeface="微软雅黑"/>
              </a:rPr>
              <a:t>高速占比</a:t>
            </a:r>
            <a:endParaRPr sz="1080">
              <a:solidFill>
                <a:srgbClr val="586370"/>
              </a:solidFill>
              <a:latin typeface="微软雅黑"/>
            </a:endParaRPr>
          </a:p>
          <a:p>
            <a:r>
              <a:rPr sz="2000" b="1">
                <a:solidFill>
                  <a:srgbClr val="00BE2D"/>
                </a:solidFill>
                <a:latin typeface="微软雅黑"/>
              </a:rPr>
              <a:t>2.79%</a:t>
            </a:r>
            <a:endParaRPr sz="200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60" y="4443984"/>
            <a:ext cx="3017520" cy="120700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340">
                <a:solidFill>
                  <a:srgbClr val="262C38"/>
                </a:solidFill>
                <a:latin typeface="微软雅黑"/>
              </a:rPr>
              <a:t>• 低速轨迹占绝大多数，高速轨迹数量明显更少，因此高速密度图空间上更稀疏是合理现象。</a:t>
            </a:r>
            <a:endParaRPr sz="134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340">
                <a:solidFill>
                  <a:srgbClr val="262C38"/>
                </a:solidFill>
                <a:latin typeface="微软雅黑"/>
              </a:rPr>
              <a:t>• 轨迹速度的单位取决于 metadata 中物理像素尺寸的单位。</a:t>
            </a:r>
            <a:endParaRPr sz="1340">
              <a:solidFill>
                <a:srgbClr val="262C3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01168"/>
            <a:ext cx="1298448" cy="493776"/>
          </a:xfrm>
          <a:prstGeom prst="round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Step 04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7088" y="173736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7030A0"/>
                </a:solidFill>
                <a:latin typeface="微软雅黑"/>
              </a:rPr>
              <a:t>密度图效果：低速、高速与合成分布</a:t>
            </a:r>
            <a:endParaRPr sz="2500" b="1">
              <a:solidFill>
                <a:srgbClr val="7030A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72" y="786384"/>
            <a:ext cx="685800" cy="27432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w_cro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43000"/>
            <a:ext cx="3246120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143000"/>
            <a:ext cx="3246120" cy="3154680"/>
          </a:xfrm>
          <a:prstGeom prst="rect">
            <a:avLst/>
          </a:prstGeom>
          <a:noFill/>
          <a:ln w="12700">
            <a:solidFill>
              <a:srgbClr val="505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074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200D2"/>
                </a:solidFill>
                <a:latin typeface="微软雅黑"/>
              </a:rPr>
              <a:t>低速密度图：紫色</a:t>
            </a:r>
            <a:endParaRPr sz="1600" b="1">
              <a:solidFill>
                <a:srgbClr val="D200D2"/>
              </a:solidFill>
              <a:latin typeface="微软雅黑"/>
            </a:endParaRPr>
          </a:p>
        </p:txBody>
      </p:sp>
      <p:pic>
        <p:nvPicPr>
          <p:cNvPr id="8" name="Picture 7" descr="high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143000"/>
            <a:ext cx="3246120" cy="3154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96512" y="1143000"/>
            <a:ext cx="3246120" cy="3154680"/>
          </a:xfrm>
          <a:prstGeom prst="rect">
            <a:avLst/>
          </a:prstGeom>
          <a:noFill/>
          <a:ln w="12700">
            <a:solidFill>
              <a:srgbClr val="505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6512" y="44074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BE2D"/>
                </a:solidFill>
                <a:latin typeface="微软雅黑"/>
              </a:rPr>
              <a:t>高速密度图：绿色</a:t>
            </a:r>
            <a:endParaRPr sz="1600" b="1">
              <a:solidFill>
                <a:srgbClr val="00BE2D"/>
              </a:solidFill>
              <a:latin typeface="微软雅黑"/>
            </a:endParaRPr>
          </a:p>
        </p:txBody>
      </p:sp>
      <p:pic>
        <p:nvPicPr>
          <p:cNvPr id="11" name="Picture 10" descr="overlay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43000"/>
            <a:ext cx="3246120" cy="3154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0" y="1143000"/>
            <a:ext cx="3246120" cy="3154680"/>
          </a:xfrm>
          <a:prstGeom prst="rect">
            <a:avLst/>
          </a:prstGeom>
          <a:noFill/>
          <a:ln w="12700">
            <a:solidFill>
              <a:srgbClr val="505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407408"/>
            <a:ext cx="3246120" cy="365760"/>
          </a:xfrm>
          <a:prstGeom prst="rect">
            <a:avLst/>
          </a:prstGeom>
          <a:gradFill>
            <a:gsLst>
              <a:gs pos="0">
                <a:srgbClr val="FDC7E9"/>
              </a:gs>
              <a:gs pos="100000">
                <a:srgbClr val="0503FF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0F0F0"/>
                </a:solidFill>
                <a:latin typeface="微软雅黑"/>
              </a:rPr>
              <a:t>高低速合成图</a:t>
            </a:r>
            <a:endParaRPr sz="1600" b="1">
              <a:solidFill>
                <a:srgbClr val="F0F0F0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4965192"/>
            <a:ext cx="10927080" cy="1243584"/>
          </a:xfrm>
          <a:prstGeom prst="roundRect">
            <a:avLst/>
          </a:prstGeom>
          <a:solidFill>
            <a:srgbClr val="222632"/>
          </a:solidFill>
          <a:ln>
            <a:solidFill>
              <a:srgbClr val="5054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129784"/>
            <a:ext cx="10469880" cy="8961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450">
                <a:solidFill>
                  <a:srgbClr val="EBEBEB"/>
                </a:solidFill>
                <a:latin typeface="微软雅黑"/>
              </a:rPr>
              <a:t>• </a:t>
            </a:r>
            <a:r>
              <a:rPr sz="1450" b="1">
                <a:solidFill>
                  <a:srgbClr val="EBEBEB"/>
                </a:solidFill>
                <a:latin typeface="微软雅黑"/>
              </a:rPr>
              <a:t>黑色</a:t>
            </a:r>
            <a:r>
              <a:rPr sz="1450" b="0">
                <a:solidFill>
                  <a:srgbClr val="EBEBEB"/>
                </a:solidFill>
                <a:latin typeface="微软雅黑"/>
              </a:rPr>
              <a:t> = 无轨迹密度；</a:t>
            </a:r>
            <a:r>
              <a:rPr sz="1450" b="1">
                <a:solidFill>
                  <a:srgbClr val="D200D2"/>
                </a:solidFill>
                <a:latin typeface="微软雅黑"/>
              </a:rPr>
              <a:t>紫色</a:t>
            </a:r>
            <a:r>
              <a:rPr sz="1450" b="0">
                <a:solidFill>
                  <a:srgbClr val="EBEBEB"/>
                </a:solidFill>
                <a:latin typeface="微软雅黑"/>
              </a:rPr>
              <a:t> = 低速轨迹密度；</a:t>
            </a:r>
            <a:r>
              <a:rPr sz="1450" b="1">
                <a:solidFill>
                  <a:srgbClr val="00BE2D"/>
                </a:solidFill>
                <a:latin typeface="微软雅黑"/>
              </a:rPr>
              <a:t>绿色</a:t>
            </a:r>
            <a:r>
              <a:rPr sz="1450" b="0">
                <a:solidFill>
                  <a:srgbClr val="EBEBEB"/>
                </a:solidFill>
                <a:latin typeface="微软雅黑"/>
              </a:rPr>
              <a:t> = 高速轨迹密度；</a:t>
            </a:r>
            <a:r>
              <a:rPr sz="1450" b="1">
                <a:solidFill>
                  <a:srgbClr val="F5F5F5"/>
                </a:solidFill>
                <a:latin typeface="微软雅黑"/>
              </a:rPr>
              <a:t>浅色/白色</a:t>
            </a:r>
            <a:r>
              <a:rPr sz="1450" b="0">
                <a:solidFill>
                  <a:srgbClr val="EBEBEB"/>
                </a:solidFill>
                <a:latin typeface="微软雅黑"/>
              </a:rPr>
              <a:t> = 高低速在空间上重叠。</a:t>
            </a:r>
            <a:endParaRPr sz="1450" b="0">
              <a:solidFill>
                <a:srgbClr val="EBEBEB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EBEBEB"/>
                </a:solidFill>
                <a:latin typeface="微软雅黑"/>
              </a:rPr>
              <a:t>• 低速/高速单图分别独立做 99 百分位可视化归一化；不能只凭两张图亮度比较绝对数量，应结合 CSV 轨迹数和轨迹点数。</a:t>
            </a:r>
            <a:endParaRPr sz="1450">
              <a:solidFill>
                <a:srgbClr val="EBEBE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01168"/>
            <a:ext cx="1298448" cy="493776"/>
          </a:xfrm>
          <a:prstGeom prst="round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Step 04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7088" y="173736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C2B41"/>
                </a:solidFill>
                <a:latin typeface="微软雅黑"/>
              </a:rPr>
              <a:t>轨迹指标：低速与高速的定量差异</a:t>
            </a:r>
            <a:endParaRPr sz="250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72" y="786384"/>
            <a:ext cx="685800" cy="27432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64465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97280" cy="292608"/>
          </a:xfrm>
          <a:prstGeom prst="rect">
            <a:avLst/>
          </a:prstGeom>
          <a:solidFill>
            <a:srgbClr val="3A69B4"/>
          </a:solidFill>
          <a:ln>
            <a:solidFill>
              <a:srgbClr val="3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分组统计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627632"/>
            <a:ext cx="2377440" cy="457200"/>
          </a:xfrm>
          <a:prstGeom prst="rect">
            <a:avLst/>
          </a:prstGeom>
          <a:solidFill>
            <a:srgbClr val="DF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1C2B41"/>
                </a:solidFill>
                <a:latin typeface="微软雅黑"/>
              </a:rPr>
              <a:t>指标</a:t>
            </a:r>
            <a:endParaRPr sz="125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7248" y="1627632"/>
            <a:ext cx="1828800" cy="457200"/>
          </a:xfrm>
          <a:prstGeom prst="rect">
            <a:avLst/>
          </a:prstGeom>
          <a:solidFill>
            <a:srgbClr val="DF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1C2B41"/>
                </a:solidFill>
                <a:latin typeface="微软雅黑"/>
              </a:rPr>
              <a:t>低速组</a:t>
            </a:r>
            <a:endParaRPr sz="125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6048" y="1627632"/>
            <a:ext cx="1828800" cy="457200"/>
          </a:xfrm>
          <a:prstGeom prst="rect">
            <a:avLst/>
          </a:prstGeom>
          <a:solidFill>
            <a:srgbClr val="DFEB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1C2B41"/>
                </a:solidFill>
                <a:latin typeface="微软雅黑"/>
              </a:rPr>
              <a:t>高速组</a:t>
            </a:r>
            <a:endParaRPr sz="1250" b="1">
              <a:solidFill>
                <a:srgbClr val="1C2B41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8" y="2084832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轨迹数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27248" y="20848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21,822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56048" y="20848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627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9808" y="2542032"/>
            <a:ext cx="2377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轨迹点数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27248" y="25420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429,307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56048" y="25420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5,499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808" y="2999232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point_count均值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27248" y="29992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19.67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56048" y="29992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8.77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9808" y="3456432"/>
            <a:ext cx="2377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duration_s均值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27248" y="34564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0.737 s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6048" y="34564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0.296 s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49808" y="3913632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mean_velocity均值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127248" y="39136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0.592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56048" y="39136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1.128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9808" y="4370832"/>
            <a:ext cx="237744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normalized_distance中位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127248" y="43708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3.311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956048" y="4370832"/>
            <a:ext cx="1828800" cy="457200"/>
          </a:xfrm>
          <a:prstGeom prst="rect">
            <a:avLst/>
          </a:prstGeom>
          <a:solidFill>
            <a:srgbClr val="F7F9FD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2.948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9808" y="4828032"/>
            <a:ext cx="2377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0">
                <a:solidFill>
                  <a:srgbClr val="262C38"/>
                </a:solidFill>
                <a:latin typeface="微软雅黑"/>
              </a:rPr>
              <a:t>dispersion均值</a:t>
            </a:r>
            <a:endParaRPr sz="1250" b="0">
              <a:solidFill>
                <a:srgbClr val="262C38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27248" y="48280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D200D2"/>
                </a:solidFill>
                <a:latin typeface="微软雅黑"/>
              </a:rPr>
              <a:t>0.229</a:t>
            </a:r>
            <a:endParaRPr sz="1250" b="1">
              <a:solidFill>
                <a:srgbClr val="D200D2"/>
              </a:solidFill>
              <a:latin typeface="微软雅黑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56048" y="4828032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rtlCol="0" anchor="ctr"/>
          <a:lstStyle/>
          <a:p>
            <a:pPr algn="ctr"/>
            <a:r>
              <a:rPr sz="1250" b="1">
                <a:solidFill>
                  <a:srgbClr val="00BE2D"/>
                </a:solidFill>
                <a:latin typeface="微软雅黑"/>
              </a:rPr>
              <a:t>0.229</a:t>
            </a:r>
            <a:endParaRPr sz="1250" b="1">
              <a:solidFill>
                <a:srgbClr val="00BE2D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223760" y="960120"/>
            <a:ext cx="438912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1143000"/>
            <a:ext cx="1097280" cy="292608"/>
          </a:xfrm>
          <a:prstGeom prst="rect">
            <a:avLst/>
          </a:prstGeom>
          <a:solidFill>
            <a:srgbClr val="8ECCCC"/>
          </a:solidFill>
          <a:ln>
            <a:solidFill>
              <a:srgbClr val="8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指标解释</a:t>
            </a:r>
            <a:endParaRPr sz="125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52360" y="1627632"/>
            <a:ext cx="3886200" cy="42976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3A69B4"/>
                </a:solidFill>
                <a:latin typeface="微软雅黑"/>
              </a:rPr>
              <a:t>mean_velocity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：轨迹平均速度，用于高/低速分组。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3A69B4"/>
                </a:solidFill>
                <a:latin typeface="微软雅黑"/>
              </a:rPr>
              <a:t>duration_s / dwell_time_s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：轨迹持续时间；当前实现二者等同。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3A69B4"/>
                </a:solidFill>
                <a:latin typeface="微软雅黑"/>
              </a:rPr>
              <a:t>path_length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：轨迹累计路径长度。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3A69B4"/>
                </a:solidFill>
                <a:latin typeface="微软雅黑"/>
              </a:rPr>
              <a:t>normalized_distance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：路径长度 / 起终点直线距离；越大表示路径越曲折，或可能受定位抖动/错误连接影响。</a:t>
            </a:r>
            <a:endParaRPr sz="1420" b="0">
              <a:solidFill>
                <a:srgbClr val="262C38"/>
              </a:solidFill>
              <a:latin typeface="微软雅黑"/>
            </a:endParaRPr>
          </a:p>
          <a:p>
            <a:pPr>
              <a:spcAft>
                <a:spcPts val="500"/>
              </a:spcAft>
            </a:pPr>
            <a:r>
              <a:rPr sz="1420">
                <a:solidFill>
                  <a:srgbClr val="262C38"/>
                </a:solidFill>
                <a:latin typeface="微软雅黑"/>
              </a:rPr>
              <a:t>• </a:t>
            </a:r>
            <a:r>
              <a:rPr sz="1420" b="1">
                <a:solidFill>
                  <a:srgbClr val="3A69B4"/>
                </a:solidFill>
                <a:latin typeface="微软雅黑"/>
              </a:rPr>
              <a:t>dispersion</a:t>
            </a:r>
            <a:r>
              <a:rPr sz="1420" b="0">
                <a:solidFill>
                  <a:srgbClr val="262C38"/>
                </a:solidFill>
                <a:latin typeface="微软雅黑"/>
              </a:rPr>
              <a:t>：当前更接近“方向一致性比例”；数值越高，方向越一致。</a:t>
            </a:r>
            <a:endParaRPr sz="1420" b="0">
              <a:solidFill>
                <a:srgbClr val="262C3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1353312" cy="475488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Step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8528" y="237744"/>
            <a:ext cx="9625965" cy="52451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2700" b="1">
                <a:solidFill>
                  <a:srgbClr val="1C2F4E"/>
                </a:solidFill>
                <a:latin typeface="微软雅黑"/>
              </a:defRPr>
            </a:pPr>
            <a:r>
              <a:rPr lang="zh-CN"/>
              <a:t>【小鼠分支】</a:t>
            </a:r>
            <a:r>
              <a:t>时空 SVD 滤波：从小鼠高速序列中分离微泡信号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6816" y="713232"/>
            <a:ext cx="877824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250" b="0">
                <a:solidFill>
                  <a:srgbClr val="5C6670"/>
                </a:solidFill>
                <a:latin typeface="微软雅黑"/>
              </a:defRPr>
            </a:pPr>
            <a:r>
              <a:t>小鼠分支来不及完整实现时，重点说明可由哪些 Python 包支持与哪些逻辑需要自定义。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9264"/>
            <a:ext cx="11292840" cy="13716"/>
          </a:xfrm>
          <a:prstGeom prst="rect">
            <a:avLst/>
          </a:prstGeom>
          <a:solidFill>
            <a:srgbClr val="CBDADE"/>
          </a:solidFill>
          <a:ln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6583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307592"/>
            <a:ext cx="1325880" cy="310896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143000" cy="658368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0" b="1">
                <a:solidFill>
                  <a:srgbClr val="FFFFFF"/>
                </a:solidFill>
                <a:latin typeface="微软雅黑"/>
              </a:defRPr>
            </a:pPr>
            <a:r>
              <a:t>[T,H,W]</a:t>
            </a:r>
            <a:br/>
            <a:r>
              <a:t>视频序列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965960"/>
            <a:ext cx="1143000" cy="658368"/>
          </a:xfrm>
          <a:prstGeom prst="roundRect">
            <a:avLst/>
          </a:prstGeom>
          <a:solidFill>
            <a:srgbClr val="56AAA4"/>
          </a:solidFill>
          <a:ln>
            <a:solidFill>
              <a:srgbClr val="56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0" b="1">
                <a:solidFill>
                  <a:srgbClr val="FFFFFF"/>
                </a:solidFill>
                <a:latin typeface="微软雅黑"/>
              </a:defRPr>
            </a:pPr>
            <a:r>
              <a:t>M[H×W,T]</a:t>
            </a:r>
            <a:br/>
            <a:r>
              <a:t>空间×时间矩阵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1143000" cy="658368"/>
          </a:xfrm>
          <a:prstGeom prst="round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0" b="1">
                <a:solidFill>
                  <a:srgbClr val="FFFFFF"/>
                </a:solidFill>
                <a:latin typeface="微软雅黑"/>
              </a:defRPr>
            </a:pPr>
            <a:r>
              <a:t>UΣVᵀ</a:t>
            </a:r>
            <a:br/>
            <a:r>
              <a:t>奇异值分解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965960"/>
            <a:ext cx="1143000" cy="658368"/>
          </a:xfrm>
          <a:prstGeom prst="round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30" b="1">
                <a:solidFill>
                  <a:srgbClr val="FFFFFF"/>
                </a:solidFill>
                <a:latin typeface="微软雅黑"/>
              </a:defRPr>
            </a:pPr>
            <a:r>
              <a:t>保留中间秩</a:t>
            </a:r>
            <a:br/>
            <a:r>
              <a:t>重建微泡信号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295144"/>
            <a:ext cx="384048" cy="0"/>
          </a:xfrm>
          <a:prstGeom prst="line">
            <a:avLst/>
          </a:prstGeom>
          <a:ln w="2159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22191" y="2295144"/>
            <a:ext cx="384049" cy="0"/>
          </a:xfrm>
          <a:prstGeom prst="line">
            <a:avLst/>
          </a:prstGeom>
          <a:ln w="2159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04688" y="2295144"/>
            <a:ext cx="384048" cy="0"/>
          </a:xfrm>
          <a:prstGeom prst="line">
            <a:avLst/>
          </a:prstGeom>
          <a:ln w="2159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944368"/>
            <a:ext cx="5989320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420">
                <a:solidFill>
                  <a:srgbClr val="1E1E1E"/>
                </a:solidFill>
                <a:latin typeface="微软雅黑"/>
              </a:defRPr>
            </a:pPr>
            <a:r>
              <a:t>• 大奇异值：组织杂波 / 静态背景；中间奇异值：微泡运动；小奇异值：随机噪声。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420">
                <a:solidFill>
                  <a:srgbClr val="1E1E1E"/>
                </a:solidFill>
                <a:latin typeface="微软雅黑"/>
              </a:defRPr>
            </a:pPr>
            <a:r>
              <a:t>• SVD 本身可直接调用包，真正需要自定义的是“保留哪些奇异值并重建”。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1143000"/>
            <a:ext cx="43434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307592"/>
            <a:ext cx="1325880" cy="310896"/>
          </a:xfrm>
          <a:prstGeom prst="roundRect">
            <a:avLst/>
          </a:prstGeom>
          <a:solidFill>
            <a:srgbClr val="56AAA4"/>
          </a:solidFill>
          <a:ln>
            <a:solidFill>
              <a:srgbClr val="56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包支持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1664208"/>
            <a:ext cx="3749039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600" b="1">
                <a:solidFill>
                  <a:srgbClr val="1C2F4E"/>
                </a:solidFill>
                <a:latin typeface="微软雅黑"/>
              </a:defRPr>
            </a:pPr>
            <a:r>
              <a:t>推荐包 / 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029968"/>
            <a:ext cx="3657600" cy="1325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300">
                <a:solidFill>
                  <a:srgbClr val="1E1E1E"/>
                </a:solidFill>
                <a:latin typeface="微软雅黑"/>
              </a:defRPr>
            </a:pPr>
            <a:r>
              <a:t>• numpy：reshape / 矩阵运算。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300">
                <a:solidFill>
                  <a:srgbClr val="1E1E1E"/>
                </a:solidFill>
                <a:latin typeface="微软雅黑"/>
              </a:defRPr>
            </a:pPr>
            <a:r>
              <a:t>• scipy.linalg.svd：标准 SVD 分解。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300">
                <a:solidFill>
                  <a:srgbClr val="1E1E1E"/>
                </a:solidFill>
                <a:latin typeface="微软雅黑"/>
              </a:defRPr>
            </a:pPr>
            <a:r>
              <a:t>• sklearn randomized_svd：大规模序列近似分解。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300">
                <a:solidFill>
                  <a:srgbClr val="1E1E1E"/>
                </a:solidFill>
                <a:latin typeface="微软雅黑"/>
              </a:defRPr>
            </a:pPr>
            <a:r>
              <a:t>• matplotlib：奇异值曲线展示。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70248"/>
            <a:ext cx="111739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434840"/>
            <a:ext cx="1325880" cy="310896"/>
          </a:xfrm>
          <a:prstGeom prst="roundRect">
            <a:avLst/>
          </a:prstGeom>
          <a:solidFill>
            <a:srgbClr val="EA802E"/>
          </a:solidFill>
          <a:ln>
            <a:solidFill>
              <a:srgbClr val="EA8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实现边界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773168"/>
            <a:ext cx="10469880" cy="10972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500">
                <a:solidFill>
                  <a:srgbClr val="1E1E1E"/>
                </a:solidFill>
                <a:latin typeface="微软雅黑"/>
              </a:defRPr>
            </a:pPr>
            <a:r>
              <a:t>• 可直接包支持：矩阵变形、SVD 分解、奇异值曲线绘制。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500">
                <a:solidFill>
                  <a:srgbClr val="1E1E1E"/>
                </a:solidFill>
                <a:latin typeface="微软雅黑"/>
              </a:defRPr>
            </a:pPr>
            <a:r>
              <a:t>• 需要自定义：low_rank_cut / high_rank_cut 阈值、S_keep 掩码、M_filtered = (U * S_keep) @ Vt 的重建逻辑。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500">
                <a:solidFill>
                  <a:srgbClr val="1E1E1E"/>
                </a:solidFill>
                <a:latin typeface="微软雅黑"/>
              </a:defRPr>
            </a:pPr>
            <a:r>
              <a:t>• 展示时建议放“奇异值曲线 + 保留区间”，比直接放代码更容易说明滤波思路。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r">
              <a:defRPr sz="950" b="0">
                <a:solidFill>
                  <a:srgbClr val="5C6670"/>
                </a:solidFill>
                <a:latin typeface="微软雅黑"/>
              </a:defRPr>
            </a:pPr>
            <a:r>
              <a:t>1/3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1353312" cy="475488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Step 01+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8528" y="237744"/>
            <a:ext cx="5847080" cy="52451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2700" b="1">
                <a:solidFill>
                  <a:srgbClr val="1C2F4E"/>
                </a:solidFill>
                <a:latin typeface="微软雅黑"/>
              </a:defRPr>
            </a:pPr>
            <a:r>
              <a:rPr lang="zh-CN">
                <a:sym typeface="+mn-ea"/>
              </a:rPr>
              <a:t>【小鼠分支】</a:t>
            </a:r>
            <a:r>
              <a:t>低阈值 SVD 与速度分组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6816" y="713232"/>
            <a:ext cx="877824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250" b="0">
                <a:solidFill>
                  <a:srgbClr val="5C6670"/>
                </a:solidFill>
                <a:latin typeface="微软雅黑"/>
              </a:defRPr>
            </a:pPr>
            <a:r>
              <a:t>保留低速微泡；高/低速不是由单帧亮度决定，而是由追踪后的轨迹平均速度决定。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9264"/>
            <a:ext cx="11292840" cy="13716"/>
          </a:xfrm>
          <a:prstGeom prst="rect">
            <a:avLst/>
          </a:prstGeom>
          <a:solidFill>
            <a:srgbClr val="CBDADE"/>
          </a:solidFill>
          <a:ln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5778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307592"/>
            <a:ext cx="1325880" cy="310896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低阈值 SVD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4663440" cy="18288"/>
          </a:xfrm>
          <a:prstGeom prst="rect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155448" cy="1417320"/>
          </a:xfrm>
          <a:prstGeom prst="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3246120"/>
            <a:ext cx="155448" cy="1143000"/>
          </a:xfrm>
          <a:prstGeom prst="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3456432"/>
            <a:ext cx="155448" cy="932688"/>
          </a:xfrm>
          <a:prstGeom prst="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3639312"/>
            <a:ext cx="155448" cy="749808"/>
          </a:xfrm>
          <a:prstGeom prst="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3767328"/>
            <a:ext cx="155448" cy="621792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858768"/>
            <a:ext cx="155448" cy="530352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3931920"/>
            <a:ext cx="155448" cy="457200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3986783"/>
            <a:ext cx="155448" cy="402336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4041648"/>
            <a:ext cx="155448" cy="347472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4096511"/>
            <a:ext cx="155448" cy="292608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4142231"/>
            <a:ext cx="155448" cy="246888"/>
          </a:xfrm>
          <a:prstGeom prst="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4187952"/>
            <a:ext cx="155448" cy="201168"/>
          </a:xfrm>
          <a:prstGeom prst="rect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4224528"/>
            <a:ext cx="155448" cy="164592"/>
          </a:xfrm>
          <a:prstGeom prst="rect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261104"/>
            <a:ext cx="155448" cy="128016"/>
          </a:xfrm>
          <a:prstGeom prst="rect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4297680"/>
            <a:ext cx="155448" cy="91440"/>
          </a:xfrm>
          <a:prstGeom prst="rect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325112"/>
            <a:ext cx="155448" cy="64008"/>
          </a:xfrm>
          <a:prstGeom prst="rect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800" b="1">
                <a:solidFill>
                  <a:srgbClr val="1C2F4E"/>
                </a:solidFill>
                <a:latin typeface="微软雅黑"/>
              </a:defRPr>
            </a:pPr>
            <a:r>
              <a:t>只去掉少量最大奇异值，避免把低速微泡误删。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377440"/>
            <a:ext cx="466344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350">
                <a:solidFill>
                  <a:srgbClr val="1E1E1E"/>
                </a:solidFill>
                <a:latin typeface="微软雅黑"/>
              </a:defRPr>
            </a:pPr>
            <a:r>
              <a:t>• 低速微泡移动慢，时空相关性高，容易被当成组织背景。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350">
                <a:solidFill>
                  <a:srgbClr val="1E1E1E"/>
                </a:solidFill>
                <a:latin typeface="微软雅黑"/>
              </a:defRPr>
            </a:pPr>
            <a:r>
              <a:t>• 普通 SVD 去组织更强，但可能牺牲低速微泡。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62856"/>
            <a:ext cx="1005840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080" b="1">
                <a:solidFill>
                  <a:srgbClr val="3967AA"/>
                </a:solidFill>
                <a:latin typeface="微软雅黑"/>
              </a:defRPr>
            </a:pPr>
            <a:r>
              <a:t>组织背景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562856"/>
            <a:ext cx="1188720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080" b="1">
                <a:solidFill>
                  <a:srgbClr val="64AA50"/>
                </a:solidFill>
                <a:latin typeface="微软雅黑"/>
              </a:defRPr>
            </a:pPr>
            <a:r>
              <a:t>微泡信号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62856"/>
            <a:ext cx="731520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080" b="1">
                <a:solidFill>
                  <a:srgbClr val="D24848"/>
                </a:solidFill>
                <a:latin typeface="微软雅黑"/>
              </a:defRPr>
            </a:pPr>
            <a:r>
              <a:t>噪声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83480"/>
            <a:ext cx="4434840" cy="713232"/>
          </a:xfrm>
          <a:prstGeom prst="roundRect">
            <a:avLst/>
          </a:prstGeom>
          <a:solidFill>
            <a:srgbClr val="EDF2F4"/>
          </a:solidFill>
          <a:ln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4008" rtlCol="0" anchor="ctr"/>
          <a:lstStyle/>
          <a:p>
            <a:pPr algn="ctr">
              <a:defRPr sz="1050">
                <a:solidFill>
                  <a:srgbClr val="28323C"/>
                </a:solidFill>
                <a:latin typeface="Consolas"/>
              </a:defRPr>
            </a:pPr>
            <a:r>
              <a:rPr sz="1200"/>
              <a:t>filtered_low = svd_filter(</a:t>
            </a:r>
            <a:r>
              <a:rPr lang="en-US" sz="1200"/>
              <a:t> </a:t>
            </a:r>
            <a:r>
              <a:rPr sz="1200"/>
              <a:t>frames,</a:t>
            </a:r>
            <a:r>
              <a:rPr lang="en-US" sz="1200"/>
              <a:t> </a:t>
            </a:r>
            <a:r>
              <a:rPr sz="1200"/>
              <a:t>low_rank_cut=2,</a:t>
            </a:r>
            <a:br>
              <a:rPr sz="1200"/>
            </a:br>
            <a:r>
              <a:rPr sz="1200"/>
              <a:t>    high_rank_cut=80)</a:t>
            </a:r>
            <a:endParaRPr sz="1200"/>
          </a:p>
        </p:txBody>
      </p:sp>
      <p:sp>
        <p:nvSpPr>
          <p:cNvPr id="31" name="Rounded Rectangle 30"/>
          <p:cNvSpPr/>
          <p:nvPr/>
        </p:nvSpPr>
        <p:spPr>
          <a:xfrm>
            <a:off x="6355080" y="114300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9672" y="1307592"/>
            <a:ext cx="1325880" cy="310896"/>
          </a:xfrm>
          <a:prstGeom prst="roundRect">
            <a:avLst/>
          </a:prstGeom>
          <a:solidFill>
            <a:srgbClr val="56AAA4"/>
          </a:solidFill>
          <a:ln>
            <a:solidFill>
              <a:srgbClr val="56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速度分组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828800"/>
            <a:ext cx="4572000" cy="420624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900" b="1">
                <a:solidFill>
                  <a:srgbClr val="1C2F4E"/>
                </a:solidFill>
                <a:latin typeface="微软雅黑"/>
              </a:defRPr>
            </a:pPr>
            <a:r>
              <a:t>速度来自轨迹，不来自滤波通道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2423160"/>
            <a:ext cx="4480560" cy="658368"/>
          </a:xfrm>
          <a:prstGeom prst="roundRect">
            <a:avLst/>
          </a:prstGeom>
          <a:solidFill>
            <a:srgbClr val="E8F7F5"/>
          </a:solidFill>
          <a:ln>
            <a:solidFill>
              <a:srgbClr val="56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2F4E"/>
                </a:solidFill>
                <a:latin typeface="微软雅黑"/>
              </a:defRPr>
            </a:pPr>
            <a:r>
              <a:t>速度 = 位移 × 像素尺寸 × 帧率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337560"/>
            <a:ext cx="4572000" cy="10515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600">
                <a:solidFill>
                  <a:srgbClr val="1E1E1E"/>
                </a:solidFill>
                <a:latin typeface="微软雅黑"/>
              </a:defRPr>
            </a:pPr>
            <a:r>
              <a:t>• 高速轨迹：主干血管、快速灌注区域。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600">
                <a:solidFill>
                  <a:srgbClr val="1E1E1E"/>
                </a:solidFill>
                <a:latin typeface="微软雅黑"/>
              </a:defRPr>
            </a:pPr>
            <a:r>
              <a:t>• 低速轨迹：微小血管、毛细血管、局部滞留区域。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709160"/>
            <a:ext cx="4389120" cy="27432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500" b="1">
                <a:solidFill>
                  <a:srgbClr val="1C2F4E"/>
                </a:solidFill>
                <a:latin typeface="微软雅黑"/>
              </a:defRPr>
            </a:pPr>
            <a:r>
              <a:t>包支持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5047488"/>
            <a:ext cx="896112" cy="228600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98664" y="5047488"/>
            <a:ext cx="1014984" cy="228600"/>
          </a:xfrm>
          <a:prstGeom prst="round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5047488"/>
            <a:ext cx="1847088" cy="228600"/>
          </a:xfrm>
          <a:prstGeom prst="round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scipy.spatial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5376672"/>
            <a:ext cx="1490472" cy="228600"/>
          </a:xfrm>
          <a:prstGeom prst="roundRect">
            <a:avLst/>
          </a:prstGeom>
          <a:solidFill>
            <a:srgbClr val="EA802E"/>
          </a:solidFill>
          <a:ln>
            <a:solidFill>
              <a:srgbClr val="EA8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650992"/>
            <a:ext cx="4526280" cy="41148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20" b="1">
                <a:solidFill>
                  <a:srgbClr val="5C6670"/>
                </a:solidFill>
                <a:latin typeface="微软雅黑"/>
              </a:defRPr>
            </a:pPr>
            <a:r>
              <a:t>轨迹管理、速度阈值和高/低速筛选需要自定义。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r">
              <a:defRPr sz="950" b="0">
                <a:solidFill>
                  <a:srgbClr val="5C6670"/>
                </a:solidFill>
                <a:latin typeface="微软雅黑"/>
              </a:defRPr>
            </a:pPr>
            <a:r>
              <a:t>2/3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1353312" cy="475488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Step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8528" y="237744"/>
            <a:ext cx="8354060" cy="52451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2700" b="1">
                <a:solidFill>
                  <a:srgbClr val="1C2F4E"/>
                </a:solidFill>
                <a:latin typeface="微软雅黑"/>
              </a:defRPr>
            </a:pPr>
            <a:r>
              <a:rPr lang="zh-CN">
                <a:sym typeface="+mn-ea"/>
              </a:rPr>
              <a:t>【小鼠分支】</a:t>
            </a:r>
            <a:r>
              <a:t>径向对称定位：从候选亮斑到亚像素中心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6816" y="713232"/>
            <a:ext cx="8778240" cy="256032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250" b="0">
                <a:solidFill>
                  <a:srgbClr val="5C6670"/>
                </a:solidFill>
                <a:latin typeface="微软雅黑"/>
              </a:defRPr>
            </a:pPr>
            <a:r>
              <a:t>小鼠分支若不实现完整代码，可说明函数结构与包支持：检测候选点 + patch 梯度 + 加权最小二乘。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9264"/>
            <a:ext cx="11292840" cy="13716"/>
          </a:xfrm>
          <a:prstGeom prst="rect">
            <a:avLst/>
          </a:prstGeom>
          <a:solidFill>
            <a:srgbClr val="CBDADE"/>
          </a:solidFill>
          <a:ln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8064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307592"/>
            <a:ext cx="1325880" cy="310896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定位思想</a:t>
            </a:r>
          </a:p>
        </p:txBody>
      </p:sp>
      <p:sp>
        <p:nvSpPr>
          <p:cNvPr id="8" name="Oval 7"/>
          <p:cNvSpPr/>
          <p:nvPr/>
        </p:nvSpPr>
        <p:spPr>
          <a:xfrm>
            <a:off x="2148839" y="2788920"/>
            <a:ext cx="1005840" cy="1005840"/>
          </a:xfrm>
          <a:prstGeom prst="ellipse">
            <a:avLst/>
          </a:prstGeom>
          <a:solidFill>
            <a:srgbClr val="E1F1FF"/>
          </a:solidFill>
          <a:ln>
            <a:solidFill>
              <a:srgbClr val="E1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08860" y="2948940"/>
            <a:ext cx="685800" cy="685800"/>
          </a:xfrm>
          <a:prstGeom prst="ellipse">
            <a:avLst/>
          </a:prstGeom>
          <a:solidFill>
            <a:srgbClr val="ADD6FF"/>
          </a:solidFill>
          <a:ln>
            <a:solidFill>
              <a:srgbClr val="AD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59736" y="3099816"/>
            <a:ext cx="384048" cy="384048"/>
          </a:xfrm>
          <a:prstGeom prst="ellipse">
            <a:avLst/>
          </a:prstGeom>
          <a:solidFill>
            <a:srgbClr val="4E99E2"/>
          </a:solidFill>
          <a:ln>
            <a:solidFill>
              <a:srgbClr val="4E9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69464" y="3209544"/>
            <a:ext cx="164592" cy="164592"/>
          </a:xfrm>
          <a:prstGeom prst="ellipse">
            <a:avLst/>
          </a:prstGeom>
          <a:solidFill>
            <a:srgbClr val="1F579C"/>
          </a:solidFill>
          <a:ln>
            <a:solidFill>
              <a:srgbClr val="1F5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10612" y="3250692"/>
            <a:ext cx="82296" cy="82296"/>
          </a:xfrm>
          <a:prstGeom prst="ellipse">
            <a:avLst/>
          </a:prstGeom>
          <a:solidFill>
            <a:srgbClr val="D24848"/>
          </a:solidFill>
          <a:ln>
            <a:solidFill>
              <a:srgbClr val="D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240280"/>
            <a:ext cx="1234440" cy="1051560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17320" y="3291840"/>
            <a:ext cx="1234440" cy="1051560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651760" y="2240280"/>
            <a:ext cx="1234440" cy="1051560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651760" y="3291840"/>
            <a:ext cx="1280160" cy="1024128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65960" y="1874519"/>
            <a:ext cx="685800" cy="1417321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651760" y="3291840"/>
            <a:ext cx="777240" cy="1325880"/>
          </a:xfrm>
          <a:prstGeom prst="line">
            <a:avLst/>
          </a:prstGeom>
          <a:ln w="16510">
            <a:solidFill>
              <a:srgbClr val="EA8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2331720"/>
            <a:ext cx="1417320" cy="2286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200" b="1">
                <a:solidFill>
                  <a:srgbClr val="EA802E"/>
                </a:solidFill>
                <a:latin typeface="微软雅黑"/>
              </a:defRPr>
            </a:pPr>
            <a:r>
              <a:t>梯度方向线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98064"/>
            <a:ext cx="1691640" cy="45720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ctr">
              <a:defRPr sz="1350" b="1">
                <a:solidFill>
                  <a:srgbClr val="1C2F4E"/>
                </a:solidFill>
                <a:latin typeface="微软雅黑"/>
              </a:defRPr>
            </a:pPr>
            <a:r>
              <a:t>多条线交汇处</a:t>
            </a:r>
            <a:br/>
            <a:r>
              <a:t>≈ 微泡中心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754880" cy="6858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  <a:defRPr sz="1480">
                <a:solidFill>
                  <a:srgbClr val="1E1E1E"/>
                </a:solidFill>
                <a:latin typeface="微软雅黑"/>
              </a:defRPr>
            </a:pPr>
            <a:r>
              <a:t>• 像素级极值：取最亮像素，简单但精度有限。</a:t>
            </a:r>
          </a:p>
          <a:p>
            <a:pPr>
              <a:lnSpc>
                <a:spcPct val="95000"/>
              </a:lnSpc>
              <a:spcAft>
                <a:spcPts val="400"/>
              </a:spcAft>
              <a:defRPr sz="1480">
                <a:solidFill>
                  <a:srgbClr val="1E1E1E"/>
                </a:solidFill>
                <a:latin typeface="微软雅黑"/>
              </a:defRPr>
            </a:pPr>
            <a:r>
              <a:t>• 径向对称：利用 patch 内灰度梯度方向，估计亚像素中心。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143000"/>
            <a:ext cx="51206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02425" y="1234440"/>
            <a:ext cx="1727835" cy="373380"/>
          </a:xfrm>
          <a:prstGeom prst="roundRect">
            <a:avLst/>
          </a:prstGeom>
          <a:solidFill>
            <a:srgbClr val="56AAA4"/>
          </a:solidFill>
          <a:ln>
            <a:solidFill>
              <a:srgbClr val="56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20" b="1">
                <a:solidFill>
                  <a:srgbClr val="FFFFFF"/>
                </a:solidFill>
                <a:latin typeface="微软雅黑"/>
              </a:defRPr>
            </a:pPr>
            <a:r>
              <a:t>函数结构与包支持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1755648"/>
            <a:ext cx="347472" cy="347472"/>
          </a:xfrm>
          <a:prstGeom prst="ellipse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737360"/>
            <a:ext cx="160020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00" b="1">
                <a:solidFill>
                  <a:srgbClr val="1C2F4E"/>
                </a:solidFill>
                <a:latin typeface="微软雅黑"/>
              </a:defRPr>
            </a:pPr>
            <a:r>
              <a:t>候选点检测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1737360"/>
            <a:ext cx="233172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C6670"/>
                </a:solidFill>
                <a:latin typeface="微软雅黑"/>
              </a:defRPr>
            </a:pPr>
            <a:r>
              <a:t>skimage.feature.peak_local_max</a:t>
            </a:r>
          </a:p>
        </p:txBody>
      </p:sp>
      <p:sp>
        <p:nvSpPr>
          <p:cNvPr id="27" name="Oval 26"/>
          <p:cNvSpPr/>
          <p:nvPr/>
        </p:nvSpPr>
        <p:spPr>
          <a:xfrm>
            <a:off x="6784848" y="2551176"/>
            <a:ext cx="347472" cy="347472"/>
          </a:xfrm>
          <a:prstGeom prst="ellipse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32888"/>
            <a:ext cx="160020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00" b="1">
                <a:solidFill>
                  <a:srgbClr val="1C2F4E"/>
                </a:solidFill>
                <a:latin typeface="微软雅黑"/>
              </a:defRPr>
            </a:pPr>
            <a:r>
              <a:t>裁剪局部 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532888"/>
            <a:ext cx="233172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C6670"/>
                </a:solidFill>
                <a:latin typeface="微软雅黑"/>
              </a:defRPr>
            </a:pPr>
            <a:r>
              <a:t>numpy slicing</a:t>
            </a:r>
          </a:p>
        </p:txBody>
      </p:sp>
      <p:sp>
        <p:nvSpPr>
          <p:cNvPr id="30" name="Oval 29"/>
          <p:cNvSpPr/>
          <p:nvPr/>
        </p:nvSpPr>
        <p:spPr>
          <a:xfrm>
            <a:off x="6784848" y="3346704"/>
            <a:ext cx="347472" cy="347472"/>
          </a:xfrm>
          <a:prstGeom prst="ellipse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28416"/>
            <a:ext cx="160020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00" b="1">
                <a:solidFill>
                  <a:srgbClr val="1C2F4E"/>
                </a:solidFill>
                <a:latin typeface="微软雅黑"/>
              </a:defRPr>
            </a:pPr>
            <a:r>
              <a:t>计算 gx, gy 梯度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328416"/>
            <a:ext cx="233172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C6670"/>
                </a:solidFill>
                <a:latin typeface="微软雅黑"/>
              </a:defRPr>
            </a:pPr>
            <a:r>
              <a:t>numpy.gradient / scipy.ndimage</a:t>
            </a:r>
          </a:p>
        </p:txBody>
      </p:sp>
      <p:sp>
        <p:nvSpPr>
          <p:cNvPr id="33" name="Oval 32"/>
          <p:cNvSpPr/>
          <p:nvPr/>
        </p:nvSpPr>
        <p:spPr>
          <a:xfrm>
            <a:off x="6784848" y="4142231"/>
            <a:ext cx="347472" cy="347472"/>
          </a:xfrm>
          <a:prstGeom prst="ellipse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123944"/>
            <a:ext cx="160020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00" b="1">
                <a:solidFill>
                  <a:srgbClr val="1C2F4E"/>
                </a:solidFill>
                <a:latin typeface="微软雅黑"/>
              </a:defRPr>
            </a:pPr>
            <a:r>
              <a:t>加权最小二乘求中心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4123944"/>
            <a:ext cx="2331720" cy="219456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000" b="0">
                <a:solidFill>
                  <a:srgbClr val="5C6670"/>
                </a:solidFill>
                <a:latin typeface="微软雅黑"/>
              </a:defRPr>
            </a:pPr>
            <a:r>
              <a:t>numpy.linalg.lstsq / scipy.linalg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074920"/>
            <a:ext cx="4434840" cy="320040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l">
              <a:defRPr sz="1330" b="1">
                <a:solidFill>
                  <a:srgbClr val="5C6670"/>
                </a:solidFill>
                <a:latin typeface="微软雅黑"/>
              </a:defRPr>
            </a:pPr>
            <a:r>
              <a:t>实现性质：包支持基础运算，核心定位公式仍需自定义。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4848" y="5596128"/>
            <a:ext cx="896112" cy="228600"/>
          </a:xfrm>
          <a:prstGeom prst="roundRect">
            <a:avLst/>
          </a:prstGeom>
          <a:solidFill>
            <a:srgbClr val="3967AA"/>
          </a:solidFill>
          <a:ln>
            <a:solidFill>
              <a:srgbClr val="39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5596128"/>
            <a:ext cx="896112" cy="228600"/>
          </a:xfrm>
          <a:prstGeom prst="roundRect">
            <a:avLst/>
          </a:prstGeom>
          <a:solidFill>
            <a:srgbClr val="7E57C2"/>
          </a:solidFill>
          <a:ln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scipy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3376" y="5596128"/>
            <a:ext cx="1728216" cy="228600"/>
          </a:xfrm>
          <a:prstGeom prst="roundRect">
            <a:avLst/>
          </a:prstGeom>
          <a:solidFill>
            <a:srgbClr val="64AA50"/>
          </a:solidFill>
          <a:ln>
            <a:solidFill>
              <a:srgbClr val="64A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scikit-image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84848" y="5925312"/>
            <a:ext cx="1490472" cy="228600"/>
          </a:xfrm>
          <a:prstGeom prst="roundRect">
            <a:avLst/>
          </a:prstGeom>
          <a:solidFill>
            <a:srgbClr val="EA802E"/>
          </a:solidFill>
          <a:ln>
            <a:solidFill>
              <a:srgbClr val="EA8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54864" tIns="54864" rIns="54864" bIns="54864">
            <a:spAutoFit/>
          </a:bodyPr>
          <a:lstStyle/>
          <a:p>
            <a:pPr algn="r">
              <a:defRPr sz="950" b="0">
                <a:solidFill>
                  <a:srgbClr val="5C6670"/>
                </a:solidFill>
                <a:latin typeface="微软雅黑"/>
              </a:defRPr>
            </a:pPr>
            <a: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7484</Words>
  <Application>WPS 演示</Application>
  <PresentationFormat>On-screen Show (16:9)</PresentationFormat>
  <Paragraphs>624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53" baseType="lpstr">
      <vt:lpstr>Arial</vt:lpstr>
      <vt:lpstr>宋体</vt:lpstr>
      <vt:lpstr>Wingdings</vt:lpstr>
      <vt:lpstr>Noto Sans CJK SC</vt:lpstr>
      <vt:lpstr>苹方-简</vt:lpstr>
      <vt:lpstr>Noto Sans CJK SC</vt:lpstr>
      <vt:lpstr>Noto Sans CJK SC</vt:lpstr>
      <vt:lpstr>Aptos Mono</vt:lpstr>
      <vt:lpstr>Aptos Mono</vt:lpstr>
      <vt:lpstr>Aptos Mono</vt:lpstr>
      <vt:lpstr>Courier New</vt:lpstr>
      <vt:lpstr>Courier New</vt:lpstr>
      <vt:lpstr>Courier New</vt:lpstr>
      <vt:lpstr>Noto Sans CJK SC</vt:lpstr>
      <vt:lpstr>Thonburi</vt:lpstr>
      <vt:lpstr>DejaVu Sans Mono</vt:lpstr>
      <vt:lpstr>微软雅黑</vt:lpstr>
      <vt:lpstr>汉仪旗黑</vt:lpstr>
      <vt:lpstr>微软雅黑</vt:lpstr>
      <vt:lpstr>Consolas</vt:lpstr>
      <vt:lpstr>Consolas</vt:lpstr>
      <vt:lpstr>Consolas</vt:lpstr>
      <vt:lpstr>等线</vt:lpstr>
      <vt:lpstr>汉仪中等线KW</vt:lpstr>
      <vt:lpstr>微软雅黑</vt:lpstr>
      <vt:lpstr>宋体</vt:lpstr>
      <vt:lpstr>Arial Unicode MS</vt:lpstr>
      <vt:lpstr>Calibri</vt:lpstr>
      <vt:lpstr>Helvetica Neue</vt:lpstr>
      <vt:lpstr>汉仪书宋二KW</vt:lpstr>
      <vt:lpstr>DejaVu Sans Mono</vt:lpstr>
      <vt:lpstr>微软雅黑</vt:lpstr>
      <vt:lpstr>宋体-简</vt:lpstr>
      <vt:lpstr>Aptos</vt:lpstr>
      <vt:lpstr>Consolas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BJUT Model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超声微泡成像技术点展示-完善版</dc:title>
  <dc:creator>OpenAI</dc:creator>
  <dc:subject>超声微泡成像技术点展示</dc:subject>
  <cp:lastModifiedBy>wjc</cp:lastModifiedBy>
  <cp:revision>23</cp:revision>
  <dcterms:created xsi:type="dcterms:W3CDTF">2026-05-31T16:30:54Z</dcterms:created>
  <dcterms:modified xsi:type="dcterms:W3CDTF">2026-05-31T16:30:54Z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F740D74CB4F45ADE440B1C6AB6F8A079_43</vt:lpwstr>
  </property>
</Properties>
</file>